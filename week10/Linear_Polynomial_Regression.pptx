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Curved data vs. straight-line fit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Data</c:v>
                </c:pt>
              </c:strCache>
            </c:strRef>
          </c:tx>
          <c:spPr>
            <a:ln w="25400" cap="flat">
              <a:solidFill>
                <a:srgbClr val="B8504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45</c:v>
                </c:pt>
                <c:pt idx="1">
                  <c:v>50</c:v>
                </c:pt>
                <c:pt idx="2">
                  <c:v>60</c:v>
                </c:pt>
                <c:pt idx="3">
                  <c:v>80</c:v>
                </c:pt>
                <c:pt idx="4">
                  <c:v>110</c:v>
                </c:pt>
                <c:pt idx="5">
                  <c:v>150</c:v>
                </c:pt>
                <c:pt idx="6">
                  <c:v>200</c:v>
                </c:pt>
                <c:pt idx="7">
                  <c:v>300</c:v>
                </c:pt>
                <c:pt idx="8">
                  <c:v>500</c:v>
                </c:pt>
                <c:pt idx="9">
                  <c:v>1000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F01-456B-A7C1-D825E35084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Linear Fit</c:v>
                </c:pt>
              </c:strCache>
            </c:strRef>
          </c:tx>
          <c:spPr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-50</c:v>
                </c:pt>
                <c:pt idx="1">
                  <c:v>30</c:v>
                </c:pt>
                <c:pt idx="2">
                  <c:v>110</c:v>
                </c:pt>
                <c:pt idx="3">
                  <c:v>190</c:v>
                </c:pt>
                <c:pt idx="4">
                  <c:v>270</c:v>
                </c:pt>
                <c:pt idx="5">
                  <c:v>350</c:v>
                </c:pt>
                <c:pt idx="6">
                  <c:v>430</c:v>
                </c:pt>
                <c:pt idx="7">
                  <c:v>510</c:v>
                </c:pt>
                <c:pt idx="8">
                  <c:v>590</c:v>
                </c:pt>
                <c:pt idx="9">
                  <c:v>670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F01-456B-A7C1-D825E35084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Linear Regression fit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Salary</c:v>
                </c:pt>
              </c:strCache>
            </c:strRef>
          </c:tx>
          <c:spPr>
            <a:ln w="25400" cap="flat">
              <a:solidFill>
                <a:srgbClr val="B8504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45</c:v>
                </c:pt>
                <c:pt idx="1">
                  <c:v>50</c:v>
                </c:pt>
                <c:pt idx="2">
                  <c:v>60</c:v>
                </c:pt>
                <c:pt idx="3">
                  <c:v>80</c:v>
                </c:pt>
                <c:pt idx="4">
                  <c:v>110</c:v>
                </c:pt>
                <c:pt idx="5">
                  <c:v>150</c:v>
                </c:pt>
                <c:pt idx="6">
                  <c:v>200</c:v>
                </c:pt>
                <c:pt idx="7">
                  <c:v>300</c:v>
                </c:pt>
                <c:pt idx="8">
                  <c:v>500</c:v>
                </c:pt>
                <c:pt idx="9">
                  <c:v>1000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454-4242-8E11-519F9E01D5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Linear Regression</c:v>
                </c:pt>
              </c:strCache>
            </c:strRef>
          </c:tx>
          <c:spPr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-50</c:v>
                </c:pt>
                <c:pt idx="1">
                  <c:v>30</c:v>
                </c:pt>
                <c:pt idx="2">
                  <c:v>110</c:v>
                </c:pt>
                <c:pt idx="3">
                  <c:v>190</c:v>
                </c:pt>
                <c:pt idx="4">
                  <c:v>270</c:v>
                </c:pt>
                <c:pt idx="5">
                  <c:v>350</c:v>
                </c:pt>
                <c:pt idx="6">
                  <c:v>430</c:v>
                </c:pt>
                <c:pt idx="7">
                  <c:v>510</c:v>
                </c:pt>
                <c:pt idx="8">
                  <c:v>590</c:v>
                </c:pt>
                <c:pt idx="9">
                  <c:v>670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454-4242-8E11-519F9E01D5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Polynomial Regression fit (degree 4)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Salary</c:v>
                </c:pt>
              </c:strCache>
            </c:strRef>
          </c:tx>
          <c:spPr>
            <a:ln w="25400" cap="flat">
              <a:solidFill>
                <a:srgbClr val="B8504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45</c:v>
                </c:pt>
                <c:pt idx="1">
                  <c:v>50</c:v>
                </c:pt>
                <c:pt idx="2">
                  <c:v>60</c:v>
                </c:pt>
                <c:pt idx="3">
                  <c:v>80</c:v>
                </c:pt>
                <c:pt idx="4">
                  <c:v>110</c:v>
                </c:pt>
                <c:pt idx="5">
                  <c:v>150</c:v>
                </c:pt>
                <c:pt idx="6">
                  <c:v>200</c:v>
                </c:pt>
                <c:pt idx="7">
                  <c:v>300</c:v>
                </c:pt>
                <c:pt idx="8">
                  <c:v>500</c:v>
                </c:pt>
                <c:pt idx="9">
                  <c:v>1000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AFE-441F-8A96-EEB6BD4C7C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Polynomial Regression</c:v>
                </c:pt>
              </c:strCache>
            </c:strRef>
          </c:tx>
          <c:spPr>
            <a:ln w="25400" cap="flat">
              <a:solidFill>
                <a:srgbClr val="2C5F2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40</c:v>
                </c:pt>
                <c:pt idx="1">
                  <c:v>52</c:v>
                </c:pt>
                <c:pt idx="2">
                  <c:v>68</c:v>
                </c:pt>
                <c:pt idx="3">
                  <c:v>95</c:v>
                </c:pt>
                <c:pt idx="4">
                  <c:v>140</c:v>
                </c:pt>
                <c:pt idx="5">
                  <c:v>205</c:v>
                </c:pt>
                <c:pt idx="6">
                  <c:v>295</c:v>
                </c:pt>
                <c:pt idx="7">
                  <c:v>420</c:v>
                </c:pt>
                <c:pt idx="8">
                  <c:v>610</c:v>
                </c:pt>
                <c:pt idx="9">
                  <c:v>990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AFE-441F-8A96-EEB6BD4C7C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6654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used to generate these plots: plt.scatter(X, y) then plt.plot(X, lr.predict(X)) for linear, and plt.plot(X, lr_2.predict(X_poly)) for polynomial. The polynomial curve hugs the actual data points much more closely.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07183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8834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833856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0293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28979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9211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93628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0667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619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7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13262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0483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039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&amp; Polynomial Regression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02640" y="445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Yoobee Colleges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332720" y="731520"/>
            <a:ext cx="1463040" cy="146304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0" y="4023360"/>
            <a:ext cx="822960" cy="822960"/>
          </a:xfrm>
          <a:prstGeom prst="ellipse">
            <a:avLst/>
          </a:prstGeom>
          <a:solidFill>
            <a:srgbClr val="CADCF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234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Regression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8013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Regression: theory and equation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41401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368296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Linear Regression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2980944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935224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Regression: theory and equation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54787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502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implementation walkthrough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predictions &amp; comparing models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4681728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6360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best practices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32004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Linear Regression?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6675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learning algorithm that models the relationship between an independent variable x and a dependent variable y as a straight line.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the relationship between x and y is linear — y changes at a constant rate as x changes.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found by minimizing the sum of squared differences between observed and predicted values (least squares).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when data follows a roughly straight-line trend.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80960" y="137160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15544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β0 + β1x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80960" y="22860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β0 = intercept   β1 = slope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80960" y="347472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2F4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63840" y="36576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β0, β1 that minimize Σ(y − ŷ)²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Linear Regression Falls Short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real-world datasets show curved, non-linear trends — e.g. salary growing faster at higher position levels.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a straight line through curved data leads to systematic prediction errors (underfitting).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extend the model to fit curves using Polynomial Regression.</a:t>
            </a:r>
            <a:endParaRPr lang="en-US" sz="1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309360" y="118872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32004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Polynomial Regression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Polynomial Regression?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6675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extension of linear regression that models the relationship between x and y as an nth-degree polynomial.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curvature and other non-linear patterns that a straight line cannot.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degree (n) controls model complexity — degree 2 gives a parabola, higher degrees give more flexible curves.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β0...βn are still estimated via least squares, just like linear regression.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80960" y="137160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CADC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0" y="1600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β0 + β1x + β2x² + ... + βnxⁿ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80960" y="24688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degree of the polynomial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80960" y="365760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F2F4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63840" y="37947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2 = quadratic (parabola) — the simplest polynomial regression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Position Salary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400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has three columns: Position, Level, and Salary.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 (X) = Level   |   Dependent variable (y) = Salary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ranges from 45,000 to 1,000,000 with a median around 130,000.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Salary vs Level reveals a parabolic, exponential-looking curve — a strong candidate for polynomial regression.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371600"/>
          <a:ext cx="4206240" cy="3291841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7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Setup: Imports &amp; Load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27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\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PolynomialFeatures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\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LinearRegression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df_sal = pd.read_csv(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'Position_Salaries.csv')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data manipulation (DataFrames)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numerical operations &amp; arrays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 — plotting and visualization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PolynomialFeatures — generates polynomial terms (x², x³, ...) from x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 — fits the regression line/curve via least squares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Data &amp; Training Both Models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852160" cy="3657600"/>
          </a:xfrm>
          <a:prstGeom prst="roundRect">
            <a:avLst>
              <a:gd name="adj" fmla="val 2000"/>
            </a:avLst>
          </a:prstGeom>
          <a:solidFill>
            <a:srgbClr val="27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Independent / dependent variables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df_sal.iloc[:, 1:-1].values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df_sal.iloc[:, -1].values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Linear Regression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= LinearRegression()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lr.fit(X, y)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Polynomial Regression (degree 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= PolynomialFeatures(degree=4)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X_poly = pr.fit_transform(X)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lr_2 = LinearRegression()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lr_2.fit(X_poly, 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766560" y="137160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Level column, y = Salary column.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trained directly on X.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polynomial: PolynomialFeatures(degree=4) transforms X into [1, x, x², x³, x⁴].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LinearRegression is then fit on these expanded features — polynomial regression is just linear regression on transformed inputs!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Visualizing the Two Fits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80160"/>
          <a:ext cx="55778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6309360" y="1280160"/>
          <a:ext cx="55778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New Values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852160" cy="2011680"/>
          </a:xfrm>
          <a:prstGeom prst="roundRect">
            <a:avLst>
              <a:gd name="adj" fmla="val 3636"/>
            </a:avLst>
          </a:prstGeom>
          <a:solidFill>
            <a:srgbClr val="27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Predict salary for Level 7.5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lr.predict([[7.5]])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Linear Regression result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lr_2.predict(pr.fit_transform([[7.5]]))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Polynomial Regression result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5852160" cy="1280160"/>
          </a:xfrm>
          <a:prstGeom prst="roundRect">
            <a:avLst>
              <a:gd name="adj" fmla="val 7143"/>
            </a:avLst>
          </a:prstGeom>
          <a:solidFill>
            <a:srgbClr val="F2F4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Level 7.5, the polynomial model predicts a salary much closer to the true non-linear trend than the linear model.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1371600"/>
            <a:ext cx="4754880" cy="1737360"/>
          </a:xfrm>
          <a:prstGeom prst="roundRect">
            <a:avLst>
              <a:gd name="adj" fmla="val 526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0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underestimate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0" y="2377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output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3291840"/>
            <a:ext cx="4754880" cy="1737360"/>
          </a:xfrm>
          <a:prstGeom prst="roundRect">
            <a:avLst>
              <a:gd name="adj" fmla="val 5263"/>
            </a:avLst>
          </a:prstGeom>
          <a:solidFill>
            <a:srgbClr val="E8F3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0" y="3383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fit 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39319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model output — closely matches actual data trend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models straight-line relationships; polynomial regression extends it to curves via higher-degree terms.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 is still "linear" in its coefficients — it's linear regression on transformed features.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degrees fit the training data better, but risk overfitting — capturing noise rather than the true trend.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 overfitting with cross-validation, regularization, and careful model/degree selection.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E2C6E0-DC59-B276-A24B-ECDA2656B939}"/>
              </a:ext>
            </a:extLst>
          </p:cNvPr>
          <p:cNvSpPr txBox="1"/>
          <p:nvPr/>
        </p:nvSpPr>
        <p:spPr>
          <a:xfrm>
            <a:off x="3779883" y="2580640"/>
            <a:ext cx="4632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Q&amp;A?</a:t>
            </a:r>
          </a:p>
        </p:txBody>
      </p:sp>
    </p:spTree>
    <p:extLst>
      <p:ext uri="{BB962C8B-B14F-4D97-AF65-F5344CB8AC3E}">
        <p14:creationId xmlns:p14="http://schemas.microsoft.com/office/powerpoint/2010/main" val="387946422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</TotalTime>
  <Words>895</Words>
  <Application>Microsoft Office PowerPoint</Application>
  <PresentationFormat>Widescreen</PresentationFormat>
  <Paragraphs>131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&amp; Polynomial Regression</dc:title>
  <dc:subject>PptxGenJS Presentation</dc:subject>
  <dc:creator>Lecture</dc:creator>
  <cp:lastModifiedBy>Mohammad Norouzifard</cp:lastModifiedBy>
  <cp:revision>3</cp:revision>
  <dcterms:created xsi:type="dcterms:W3CDTF">2026-06-12T10:07:30Z</dcterms:created>
  <dcterms:modified xsi:type="dcterms:W3CDTF">2026-06-12T10:14:18Z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2026-06-12T10:10:11Z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c6f99e9c-145d-443f-8b76-647be26f3369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