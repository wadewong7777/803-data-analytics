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034" autoAdjust="0"/>
  </p:normalViewPr>
  <p:slideViewPr>
    <p:cSldViewPr snapToGrid="0" snapToObjects="1">
      <p:cViewPr varScale="1">
        <p:scale>
          <a:sx n="55" d="100"/>
          <a:sy n="55" d="100"/>
        </p:scale>
        <p:origin x="10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356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https://stanford.edu/~mwaskom/software/seaborn/tutorial/aesthetics.html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 with Seaborn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20887" y="476877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Yoobee Colleges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Outline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E8F1F5"/>
          </a:solidFill>
          <a:ln/>
          <a:effectLst>
            <a:outerShdw blurRad="76200" dist="25400" dir="27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920240" y="1554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Plots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20240" y="2103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displot, jointplot, pairplot, kdeplot, rugplot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E8F1F5"/>
          </a:solidFill>
          <a:ln/>
          <a:effectLst>
            <a:outerShdw blurRad="76200" dist="25400" dir="27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37960" y="160020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680960" y="1554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Plots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80960" y="2103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barplot, boxplot, violinplot, swarmplot, catplot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E8F1F5"/>
          </a:solidFill>
          <a:ln/>
          <a:effectLst>
            <a:outerShdw blurRad="76200" dist="25400" dir="27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2918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920240" y="3246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Plots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20240" y="3794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heatmap, clustermap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306324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E8F1F5"/>
          </a:solidFill>
          <a:ln/>
          <a:effectLst>
            <a:outerShdw blurRad="76200" dist="25400" dir="27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37960" y="32918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680960" y="3246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80960" y="3794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PairGrid, FacetGrid, JointGrid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E8F1F5"/>
          </a:solidFill>
          <a:ln/>
          <a:effectLst>
            <a:outerShdw blurRad="76200" dist="25400" dir="27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98348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920240" y="4937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Plots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920240" y="5486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lmplot, regplot, faceted regressions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475488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E8F1F5"/>
          </a:solidFill>
          <a:ln/>
          <a:effectLst>
            <a:outerShdw blurRad="76200" dist="25400" dir="27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37960" y="498348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680960" y="4937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&amp; Color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80960" y="5486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themes, context, spines, palettes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21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Plots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Built-in Datasets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4297680"/>
          </a:xfrm>
          <a:prstGeom prst="roundRect">
            <a:avLst>
              <a:gd name="adj" fmla="val 1277"/>
            </a:avLst>
          </a:prstGeom>
          <a:solidFill>
            <a:srgbClr val="0E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%matplotlib inline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Seaborn ships with built-in example datasets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tips = sns.load_dataset('tips')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tips.head()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reference: https://github.com/mwaskom/seaborn-data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displot — Univariate Distributions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displot() visualizes the distribution of a single (univariate) variable.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kde=True to overlay a smoothed Kernel Density Estimate curve.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bins=N to control histogram resolution.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deprecated distplot() function.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68135" y="1234440"/>
            <a:ext cx="5212080" cy="5212080"/>
          </a:xfrm>
          <a:prstGeom prst="rect">
            <a:avLst/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mgs/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295" y="1371600"/>
            <a:ext cx="49377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displot — Code Example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5120640"/>
          </a:xfrm>
          <a:prstGeom prst="roundRect">
            <a:avLst>
              <a:gd name="adj" fmla="val 1071"/>
            </a:avLst>
          </a:prstGeom>
          <a:solidFill>
            <a:srgbClr val="0E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Basic histogram with KDE overlay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sns.displot(tips['total_bill'], kde=True)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Adjust the number of bins for finer resolution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sns.displot(tips['total_bill'], kde=True, bins=100)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jointplot — Bivariate Relationships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jointplot() pairs two distplots for bivariate data — a scatter (or other) plot in the center with marginal distributions on each axis.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kind parameter controls the central plot: 'scatter', 'reg', 'hex', 'kde'.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hue= to compare groups (e.g., species, sex) within the same plot.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JointGrid is the underlying class — use it for full manual control.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jointplot — Code Examples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5120640"/>
          </a:xfrm>
          <a:prstGeom prst="roundRect">
            <a:avLst>
              <a:gd name="adj" fmla="val 1071"/>
            </a:avLst>
          </a:prstGeom>
          <a:solidFill>
            <a:srgbClr val="0E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Scatter, regression, and hex-bin variants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sns.jointplot(x='total_bill', y='tip', data=tips, kind='scatter')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sns.jointplot(x='total_bill', y='tip', data=tips, kind='reg')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sns.jointplot(x='total_bill', y='tip', data=tips, kind='hex')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Grouped KDE with hue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sns.jointplot(data=penguins, x="bill_length_mm", y="bill_depth_mm",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hue="species", kind="kde")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Full manual control with JointGrid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sns.JointGrid(data=penguins, x="bill_length_mm", y="bill_depth_mm", hue="species")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g.plot_joint(sns.scatterplot, size=penguins["body_mass_g"], sizes=(10,100), alpha=0.5)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g.plot_marginals(sns.rugplot, height=0.5, alpha=0.5)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pairplot — Pairwise Relationships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pairplot() plots pairwise relationships across every numeric column in a DataFrame — a full grid of scatter plots plus diagonal histograms.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hue= colors points by a categorical column (e.g., species, smoker).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kind='hist' changes off-diagonal plots to 2D histograms.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corner=True shows only the lower triangle, avoiding redundancy.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x_vars / y_vars restrict the grid to a chosen subset of columns.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15023" y="1234440"/>
            <a:ext cx="4965192" cy="5212080"/>
          </a:xfrm>
          <a:prstGeom prst="rect">
            <a:avLst/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mgs/pair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183" y="1371600"/>
            <a:ext cx="469087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pairplot — Code Examples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5120640"/>
          </a:xfrm>
          <a:prstGeom prst="roundRect">
            <a:avLst>
              <a:gd name="adj" fmla="val 1071"/>
            </a:avLst>
          </a:prstGeom>
          <a:solidFill>
            <a:srgbClr val="0E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sns.pairplot(tips)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sns.pairplot(tips, hue="smoker")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sns.pairplot(tips, hue='sex', palette='coolwarm')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sns.pairplot(penguins, hue="species", markers=["o","s","*"])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sns.pairplot(penguins, hue="species", markers=["o","s","*"], corner=True)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Restrict to a subset of variables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sns.pairplot(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penguins,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x_vars=["bill_length_mm","bill_depth_mm","flipper_length_mm"],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y_vars=["bill_length_mm","bill_depth_mm"],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hue="species"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rugplot &amp; kdeplot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rugplot() draws a small tick mark for every observation along an axis — the simplest visualization of a univariate distribution.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kdeplot() draws a Kernel Density Estimate: a smoothed, continuous curve replacing every observation with a small Gaussian.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typically layered on top of histplot() / displot() to add detail to the underlying data.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rugplot &amp; kdeplot — Code Examples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4297680"/>
          </a:xfrm>
          <a:prstGeom prst="roundRect">
            <a:avLst>
              <a:gd name="adj" fmla="val 1277"/>
            </a:avLst>
          </a:prstGeom>
          <a:solidFill>
            <a:srgbClr val="0E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Histogram with rug marks below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sns.histplot(tips['total_bill'], bins=20)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sns.rugplot(tips['total_bill'], color="r")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KDE curve with rug marks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sns.kdeplot(tips['total_bill'])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sns.rugplot(tips['total_bill'])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Combine all three: histogram + KDE + rug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sns.displot(tips['total_bill'], kind="hist", kde=True, bins=20)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sns.rugplot(tips['total_bill'], color="r")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Density Estimation: https://en.wikipedia.org/wiki/Kernel_density_estimation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21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Plots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barplot &amp; countplot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barplot() aggregates a numeric variable across categories — by default showing the mean with a confidence interval.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custom estimator (e.g., np.std) to aggregate differently.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countplot() is a special case: it counts occurrences per category, so it takes only x= (no y=).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work with hue= to add a second categorical split.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barplot &amp; countplot — Code Examples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5120640"/>
          </a:xfrm>
          <a:prstGeom prst="roundRect">
            <a:avLst>
              <a:gd name="adj" fmla="val 1071"/>
            </a:avLst>
          </a:prstGeom>
          <a:solidFill>
            <a:srgbClr val="0E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Mean total_bill by sex, with confidence interval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sns.barplot(x='sex', y='total_bill', data=tips)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Custom aggregation function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sns.barplot(x='sex', y='total_bill', data=tips, estimator=np.std)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countplot: counts observations per category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sns.countplot(x='sex', data=tips)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boxplot &amp; violinplot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boxplot() (box-and-whisker) shows the quartiles, median, and outliers of a distribution across categories.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violinplot() shows the same distribution information but with a full KDE shape — useful for seeing multi-modal distributions.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hue= for grouped comparisons; split=True on violinplot overlays both halves.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orient='h' switches to horizontal layout for the whole DataFrame.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836615" y="1435608"/>
            <a:ext cx="5943600" cy="4809744"/>
          </a:xfrm>
          <a:prstGeom prst="rect">
            <a:avLst/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mgs/viol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775" y="1572768"/>
            <a:ext cx="5669280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boxplot &amp; violinplot — Code Examples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5120640"/>
          </a:xfrm>
          <a:prstGeom prst="roundRect">
            <a:avLst>
              <a:gd name="adj" fmla="val 1071"/>
            </a:avLst>
          </a:prstGeom>
          <a:solidFill>
            <a:srgbClr val="0E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Boxplot by day, colored by smoker status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sns.boxplot(x="day", y="total_bill", hue="smoker", data=tips, palette="coolwarm")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Horizontal boxplots for the whole DataFrame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sns.boxplot(data=tips, palette='rainbow', orient='h')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Violin plot split by sex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sns.violinplot(x="day", y="total_bill", data=tips, hue='sex',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split=True, palette='Set1')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stripplot &amp; swarmplot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stripplot() draws a scatterplot where one axis is categorical — every individual observation is visible.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jitter=True spreads overlapping points horizontally for readability.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swarmplot() arranges points to avoid overlap entirely — a 'beeswarm' layout.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violinplot or boxplot to show both the summary shape and the raw data points.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stripplot, swarmplot &amp; Combinations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5120640"/>
          </a:xfrm>
          <a:prstGeom prst="roundRect">
            <a:avLst>
              <a:gd name="adj" fmla="val 1071"/>
            </a:avLst>
          </a:prstGeom>
          <a:solidFill>
            <a:srgbClr val="0E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sns.stripplot(x="day", y="total_bill", data=tips, jitter=True,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hue='sex', palette='Set1')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sns.swarmplot(x="day", y="total_bill", hue='sex', data=tips, palette="Set1")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Layer a swarmplot over a violinplot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sns.violinplot(x="tip", y="day", data=tips, palette='rainbow')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sns.swarmplot(x="tip", y="day", data=tips, color='black', size=3)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catplot — The General Interface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catplot() is the unified entry point for all categorical plots.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kind= parameter selects the plot type: 'strip' (default), 'swarm', 'box', 'violin', 'bar', 'count', 'point'.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FacetGrid, so col= and row= work for automatic faceting.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starting point for categorical visualization — switch kind to explore.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catplot — Code Example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5120640"/>
          </a:xfrm>
          <a:prstGeom prst="roundRect">
            <a:avLst>
              <a:gd name="adj" fmla="val 1071"/>
            </a:avLst>
          </a:prstGeom>
          <a:solidFill>
            <a:srgbClr val="0E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General categorical plot — kind controls the underlying plot type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sns.catplot(x='sex', y='total_bill', data=tips, kind='box')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Other options: kind='violin', 'bar', 'count', 'swarm', 'strip', 'point'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Faceting works automatically: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sns.catplot(x='sex', y='total_bill', data=tips, kind='box', col='time')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21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Plots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heatmap — Color-Encoded Matrices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heatmap() colors a 2D matrix according to value — your data must already be in matrix form.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use: visualize a correlation matrix via df.corr().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annot=True overlays the numeric value on each cell.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non-correlation data (e.g., flights), use pivot_table() to reshape rows × columns before plotting.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linecolor / linewidths add grid separators between cells.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74359" y="1234440"/>
            <a:ext cx="5705856" cy="5212080"/>
          </a:xfrm>
          <a:prstGeom prst="rect">
            <a:avLst/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mgs/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519" y="1371600"/>
            <a:ext cx="543153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heatmap — Code Examples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5120640"/>
          </a:xfrm>
          <a:prstGeom prst="roundRect">
            <a:avLst>
              <a:gd name="adj" fmla="val 1071"/>
            </a:avLst>
          </a:prstGeom>
          <a:solidFill>
            <a:srgbClr val="0E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Correlation matrix heatmap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tip_corr = tips[["total_bill","tip","size"]].corr()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sns.heatmap(tip_corr, cmap='coolwarm', annot=True)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Reshape time-series data into a matrix first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pvflights = flights.pivot_table(values='passengers', index='month',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columns='year', observed=False)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sns.heatmap(pvflights, cmap='magma', linecolor='white', linewidths=3)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clustermap — Hierarchical Clustering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clustermap() applies hierarchical clustering to both rows and columns, then displays the result as a reordered heatmap.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Rows/columns are grouped by similarity — revealing structure invisible in a plain heatmap (e.g., seasonal patterns in flight passenger counts).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standard_scale=1 normalizes columns so magnitude differences don't dominate the clustering.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clustermap — Code Example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4297680"/>
          </a:xfrm>
          <a:prstGeom prst="roundRect">
            <a:avLst>
              <a:gd name="adj" fmla="val 1277"/>
            </a:avLst>
          </a:prstGeom>
          <a:solidFill>
            <a:srgbClr val="0E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Cluster months/years by similarity in passenger counts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sns.clustermap(pvflights)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Normalize for clearer clustering structure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sns.clustermap(pvflights, cmap='coolwarm', standard_scale=1)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axis order changes — rows/columns are grouped by similarity, not original order.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21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PairGrid — The Engine Behind pairplot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PairGrid() creates an empty grid of axes for pairwise relationships — pairplot() is a convenient wrapper around it.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.map() to apply the same plot function to every cell.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.map_diag(), .map_upper(), .map_lower() for full control over each region of the grid — e.g., histograms on the diagonal, scatter above, KDE below.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15023" y="1234440"/>
            <a:ext cx="4965192" cy="5212080"/>
          </a:xfrm>
          <a:prstGeom prst="rect">
            <a:avLst/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mgs/pair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183" y="1371600"/>
            <a:ext cx="469087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PairGrid — Code Examples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5120640"/>
          </a:xfrm>
          <a:prstGeom prst="roundRect">
            <a:avLst>
              <a:gd name="adj" fmla="val 1071"/>
            </a:avLst>
          </a:prstGeom>
          <a:solidFill>
            <a:srgbClr val="0E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the empty grid, then map a function to every cell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sns.PairGrid(iris)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g.map(plt.scatter)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Different plot types per region of the grid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sns.PairGrid(iris)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g.map_diag(plt.hist)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g.map_upper(plt.scatter)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g.map_lower(sns.kdeplot)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FacetGrid — Multi-Panel Plots by Category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FacetGrid() is the general way to create a grid of subplots split by one or two categorical variables.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col= and row= define the grid dimensions (e.g., col='time', row='smoker').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creating the grid, use .map() to draw the same plot in every panel.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hue= adds a third grouping dimension via color; finish with .add_legend().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FacetGrid — Code Examples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5120640"/>
          </a:xfrm>
          <a:prstGeom prst="roundRect">
            <a:avLst>
              <a:gd name="adj" fmla="val 1071"/>
            </a:avLst>
          </a:prstGeom>
          <a:solidFill>
            <a:srgbClr val="0E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the empty 2x2 grid (smoker x time)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sns.FacetGrid(tips, col="time", row="smoker")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Map a histogram into every cell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sns.FacetGrid(tips, col="time", row="smoker")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g.map(plt.hist, "total_bill")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 third dimension via hue, plus a legend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sns.FacetGrid(tips, col="time", row="smoker", hue='sex')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g.map(plt.scatter, "total_bill", "tip").add_legend()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JointGrid — The Engine Behind jointplot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JointGrid() is the general-purpose version of jointplot() — full manual control over the central and marginal plots.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you need to combine plot types that jointplot's kind= parameter doesn't directly support.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time, jointplot() and pairplot() are sufficient — reach for the Grid classes only when you need fine-grained customization.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JointGrid — Code Example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5120640"/>
          </a:xfrm>
          <a:prstGeom prst="roundRect">
            <a:avLst>
              <a:gd name="adj" fmla="val 1071"/>
            </a:avLst>
          </a:prstGeom>
          <a:solidFill>
            <a:srgbClr val="0E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Manual joint + marginal plot composition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sns.JointGrid(x="total_bill", y="tip", data=tips)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g.plot(sns.regplot, sns.distplot)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Reference the documentation for advanced grid customization —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most day-to-day work uses pairplot() / jointplot() / catplot()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21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Plots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lmplot — Linear Model Plots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lmplot() combines a scatterplot with a fitted linear regression line and confidence interval.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hue= fits and displays separate regression lines per group, with palette= controlling colors.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markers= customizes point shapes per hue group; scatter_kws passes extra arguments (e.g., size) to the underlying scatter.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836615" y="1813560"/>
            <a:ext cx="5943600" cy="4053840"/>
          </a:xfrm>
          <a:prstGeom prst="rect">
            <a:avLst/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mgs/lm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775" y="1950720"/>
            <a:ext cx="5669280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lmplot — Basic Examples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5120640"/>
          </a:xfrm>
          <a:prstGeom prst="roundRect">
            <a:avLst>
              <a:gd name="adj" fmla="val 1071"/>
            </a:avLst>
          </a:prstGeom>
          <a:solidFill>
            <a:srgbClr val="0E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Basic linear fit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sns.lmplot(x='total_bill', y='tip', data=tips)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Separate regression line per group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sns.lmplot(x='total_bill', y='tip', data=tips, hue='sex', palette='coolwarm')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Customize markers and point size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sns.lmplot(x='total_bill', y='tip', data=tips, hue='sex', palette='coolwarm',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markers=['o','v'], scatter_kws={'s': 100})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Faceted Regressions with Grids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col= and row= split the regression plot into a grid of panels — one regression per facet.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col=, row=, and hue= for rich multi-dimensional comparisons (e.g., day × time × sex).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aspect= and the deprecated height/size= control the size and shape of each facet.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lmplot — Faceted Grid Examples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4297680"/>
          </a:xfrm>
          <a:prstGeom prst="roundRect">
            <a:avLst>
              <a:gd name="adj" fmla="val 1277"/>
            </a:avLst>
          </a:prstGeom>
          <a:solidFill>
            <a:srgbClr val="0E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Separate column per category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sns.lmplot(x='total_bill', y='tip', data=tips, col='sex')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Full row/column facet grid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sns.lmplot(x="total_bill", y="tip", row="sex", col="time", data=tips)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Combine facets with hue, and control aspect ratio / size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sns.lmplot(x='total_bill', y='tip', data=tips, col='day', hue='sex',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palette='coolwarm', aspect=0.6, height=8)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'size' was renamed to 'height' in modern seaborn versions.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21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&amp; Color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Themes, Spines &amp; Context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sns.set_style() switches the overall theme: 'white', 'dark', 'whitegrid', 'darkgrid', 'ticks'.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sns.despine() removes the top/right plot borders (spines) for a cleaner look; left=True removes more.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sns.set_context() scales fonts/line widths for different output targets: 'paper', 'notebook', 'talk', 'poster'. font_scale= fine-tunes further.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plt.figure(figsize=(w,h)) controls size for non-grid plots; aspect= controls grid-based plots.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836615" y="1435608"/>
            <a:ext cx="5943600" cy="4809744"/>
          </a:xfrm>
          <a:prstGeom prst="rect">
            <a:avLst/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mgs/sty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775" y="1572768"/>
            <a:ext cx="5669280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&amp; Color — Code Examples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4297680"/>
          </a:xfrm>
          <a:prstGeom prst="roundRect">
            <a:avLst>
              <a:gd name="adj" fmla="val 1277"/>
            </a:avLst>
          </a:prstGeom>
          <a:solidFill>
            <a:srgbClr val="0E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Switch theme styles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sns.set_style('white')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sns.countplot(x='sex', data=tips)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sns.set_style('ticks')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sns.countplot(x='sex', data=tips, palette='deep')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sns.despine()                 # remove top &amp; right spines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sns.despine(left=True)        # also remove left spine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Control figure size for non-grid plots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plt.figure(figsize=(12, 3))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sns.countplot(x='sex', data=tips)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Control aspect ratio for grid plots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sns.lmplot(x='total_bill', y='tip', aspect=4, data=tips)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Scale fonts/lines for presentations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sns.set_context('poster', font_scale=4)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sns.countplot(x='sex', data=tips, palette='coolwarm')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9520" y="6299200"/>
            <a:ext cx="11064240" cy="23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Job!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with the Seaborn Exercises notebook to reinforce these concepts.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https://seaborn.pydata.org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3108</Words>
  <Application>Microsoft Office PowerPoint</Application>
  <PresentationFormat>Widescreen</PresentationFormat>
  <Paragraphs>334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with Seaborn</dc:title>
  <dc:subject>PptxGenJS Presentation</dc:subject>
  <dc:creator>Data Visualization Course</dc:creator>
  <cp:lastModifiedBy>Mohammad Norouzifard</cp:lastModifiedBy>
  <cp:revision>4</cp:revision>
  <dcterms:created xsi:type="dcterms:W3CDTF">2026-06-12T09:09:05Z</dcterms:created>
  <dcterms:modified xsi:type="dcterms:W3CDTF">2026-06-12T09:54:57Z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2026-06-12T09:15:04Z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2a33dc7c-1ece-4e99-8ba4-53dad6a7d61a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