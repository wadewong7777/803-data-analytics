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9" r:id="rId5"/>
    <p:sldId id="270" r:id="rId6"/>
    <p:sldId id="271" r:id="rId7"/>
    <p:sldId id="272" r:id="rId8"/>
    <p:sldId id="274" r:id="rId9"/>
    <p:sldId id="275" r:id="rId10"/>
    <p:sldId id="261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05" autoAdjust="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5AC8B4-BE5B-4CC5-BE95-E48A4B69E4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81CFEA3-0642-4CFA-ABCB-8E75E85D85A2}">
      <dgm:prSet/>
      <dgm:spPr/>
      <dgm:t>
        <a:bodyPr/>
        <a:lstStyle/>
        <a:p>
          <a:r>
            <a:rPr lang="en-US"/>
            <a:t>Data analytics</a:t>
          </a:r>
          <a:r>
            <a:rPr lang="en-US" b="1" i="1"/>
            <a:t> </a:t>
          </a:r>
          <a:r>
            <a:rPr lang="en-US"/>
            <a:t>is an important field that involves the process of </a:t>
          </a:r>
          <a:r>
            <a:rPr lang="en-US" b="1"/>
            <a:t>collecting</a:t>
          </a:r>
          <a:r>
            <a:rPr lang="en-US"/>
            <a:t>, </a:t>
          </a:r>
          <a:r>
            <a:rPr lang="en-US" b="1"/>
            <a:t>processing</a:t>
          </a:r>
          <a:r>
            <a:rPr lang="en-US"/>
            <a:t>, and </a:t>
          </a:r>
          <a:r>
            <a:rPr lang="en-US" b="1"/>
            <a:t>interpreting</a:t>
          </a:r>
          <a:r>
            <a:rPr lang="en-US"/>
            <a:t> data to uncover </a:t>
          </a:r>
          <a:r>
            <a:rPr lang="en-US" b="1"/>
            <a:t>insights</a:t>
          </a:r>
          <a:r>
            <a:rPr lang="en-US"/>
            <a:t> and help in </a:t>
          </a:r>
          <a:r>
            <a:rPr lang="en-US" b="1"/>
            <a:t>making decisions</a:t>
          </a:r>
          <a:r>
            <a:rPr lang="en-US"/>
            <a:t>. </a:t>
          </a:r>
        </a:p>
      </dgm:t>
    </dgm:pt>
    <dgm:pt modelId="{687B76BC-B13C-4E63-B4FE-98F1258C5BC1}" type="parTrans" cxnId="{499224B5-1349-403B-9747-B4599137846D}">
      <dgm:prSet/>
      <dgm:spPr/>
      <dgm:t>
        <a:bodyPr/>
        <a:lstStyle/>
        <a:p>
          <a:endParaRPr lang="en-US"/>
        </a:p>
      </dgm:t>
    </dgm:pt>
    <dgm:pt modelId="{AAE6B87D-53D4-4ED5-9D54-949C73C798E4}" type="sibTrans" cxnId="{499224B5-1349-403B-9747-B4599137846D}">
      <dgm:prSet/>
      <dgm:spPr/>
      <dgm:t>
        <a:bodyPr/>
        <a:lstStyle/>
        <a:p>
          <a:endParaRPr lang="en-US"/>
        </a:p>
      </dgm:t>
    </dgm:pt>
    <dgm:pt modelId="{F9B0F5E8-A289-4C43-8281-15ECD26C26D6}">
      <dgm:prSet/>
      <dgm:spPr/>
      <dgm:t>
        <a:bodyPr/>
        <a:lstStyle/>
        <a:p>
          <a:r>
            <a:rPr lang="en-US"/>
            <a:t>Data analytics is the practice of examining raw data to </a:t>
          </a:r>
          <a:r>
            <a:rPr lang="en-US" b="1"/>
            <a:t>identify trends</a:t>
          </a:r>
          <a:r>
            <a:rPr lang="en-US"/>
            <a:t>, </a:t>
          </a:r>
          <a:r>
            <a:rPr lang="en-US" b="1"/>
            <a:t>draw conclusions</a:t>
          </a:r>
          <a:r>
            <a:rPr lang="en-US"/>
            <a:t>, and </a:t>
          </a:r>
          <a:r>
            <a:rPr lang="en-US" b="1"/>
            <a:t>extract meaningful information</a:t>
          </a:r>
          <a:r>
            <a:rPr lang="en-US"/>
            <a:t>. </a:t>
          </a:r>
        </a:p>
      </dgm:t>
    </dgm:pt>
    <dgm:pt modelId="{7CCB5B03-6C45-4E9A-B41B-8AC98BF44D82}" type="parTrans" cxnId="{233D73C5-75B1-45B8-98B8-5C38841B0689}">
      <dgm:prSet/>
      <dgm:spPr/>
      <dgm:t>
        <a:bodyPr/>
        <a:lstStyle/>
        <a:p>
          <a:endParaRPr lang="en-US"/>
        </a:p>
      </dgm:t>
    </dgm:pt>
    <dgm:pt modelId="{B33C43EE-B418-44CD-8899-270CC5110149}" type="sibTrans" cxnId="{233D73C5-75B1-45B8-98B8-5C38841B0689}">
      <dgm:prSet/>
      <dgm:spPr/>
      <dgm:t>
        <a:bodyPr/>
        <a:lstStyle/>
        <a:p>
          <a:endParaRPr lang="en-US"/>
        </a:p>
      </dgm:t>
    </dgm:pt>
    <dgm:pt modelId="{661CF510-49F9-4D20-AAA9-3838ADA98BB4}">
      <dgm:prSet/>
      <dgm:spPr/>
      <dgm:t>
        <a:bodyPr/>
        <a:lstStyle/>
        <a:p>
          <a:r>
            <a:rPr lang="en-US"/>
            <a:t>This involves various techniques and tools to process and transform data into valuable insights that can be used for decision-making.</a:t>
          </a:r>
        </a:p>
      </dgm:t>
    </dgm:pt>
    <dgm:pt modelId="{997BFAD9-1A18-411E-BCC5-6F34D89035C8}" type="parTrans" cxnId="{CF44388E-BEB5-42C0-89E1-6FCAC91EEE8F}">
      <dgm:prSet/>
      <dgm:spPr/>
      <dgm:t>
        <a:bodyPr/>
        <a:lstStyle/>
        <a:p>
          <a:endParaRPr lang="en-US"/>
        </a:p>
      </dgm:t>
    </dgm:pt>
    <dgm:pt modelId="{C898CA0E-9972-4755-95BD-6F8FC98654BB}" type="sibTrans" cxnId="{CF44388E-BEB5-42C0-89E1-6FCAC91EEE8F}">
      <dgm:prSet/>
      <dgm:spPr/>
      <dgm:t>
        <a:bodyPr/>
        <a:lstStyle/>
        <a:p>
          <a:endParaRPr lang="en-US"/>
        </a:p>
      </dgm:t>
    </dgm:pt>
    <dgm:pt modelId="{D6F60488-2238-4E0A-971E-65C78953F760}" type="pres">
      <dgm:prSet presAssocID="{6C5AC8B4-BE5B-4CC5-BE95-E48A4B69E4E9}" presName="root" presStyleCnt="0">
        <dgm:presLayoutVars>
          <dgm:dir/>
          <dgm:resizeHandles val="exact"/>
        </dgm:presLayoutVars>
      </dgm:prSet>
      <dgm:spPr/>
    </dgm:pt>
    <dgm:pt modelId="{65BBC12D-E519-46B3-A201-06C978F5484E}" type="pres">
      <dgm:prSet presAssocID="{D81CFEA3-0642-4CFA-ABCB-8E75E85D85A2}" presName="compNode" presStyleCnt="0"/>
      <dgm:spPr/>
    </dgm:pt>
    <dgm:pt modelId="{BB492201-4DD5-47BC-BC6B-DA6534BE97E5}" type="pres">
      <dgm:prSet presAssocID="{D81CFEA3-0642-4CFA-ABCB-8E75E85D85A2}" presName="bgRect" presStyleLbl="bgShp" presStyleIdx="0" presStyleCnt="3"/>
      <dgm:spPr/>
    </dgm:pt>
    <dgm:pt modelId="{C0F8DFDB-C8D5-4BF9-B439-7BC7E3E4047E}" type="pres">
      <dgm:prSet presAssocID="{D81CFEA3-0642-4CFA-ABCB-8E75E85D85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9A213D1-06F9-4883-BCC0-C6AA19259BF8}" type="pres">
      <dgm:prSet presAssocID="{D81CFEA3-0642-4CFA-ABCB-8E75E85D85A2}" presName="spaceRect" presStyleCnt="0"/>
      <dgm:spPr/>
    </dgm:pt>
    <dgm:pt modelId="{61B7DF8C-205F-43B6-8FAE-BF45558F26AE}" type="pres">
      <dgm:prSet presAssocID="{D81CFEA3-0642-4CFA-ABCB-8E75E85D85A2}" presName="parTx" presStyleLbl="revTx" presStyleIdx="0" presStyleCnt="3">
        <dgm:presLayoutVars>
          <dgm:chMax val="0"/>
          <dgm:chPref val="0"/>
        </dgm:presLayoutVars>
      </dgm:prSet>
      <dgm:spPr/>
    </dgm:pt>
    <dgm:pt modelId="{A07C2DF2-9370-4094-9E45-33BCB023157F}" type="pres">
      <dgm:prSet presAssocID="{AAE6B87D-53D4-4ED5-9D54-949C73C798E4}" presName="sibTrans" presStyleCnt="0"/>
      <dgm:spPr/>
    </dgm:pt>
    <dgm:pt modelId="{5E6B323E-ABBD-42A4-AA9D-7B3A2904CC55}" type="pres">
      <dgm:prSet presAssocID="{F9B0F5E8-A289-4C43-8281-15ECD26C26D6}" presName="compNode" presStyleCnt="0"/>
      <dgm:spPr/>
    </dgm:pt>
    <dgm:pt modelId="{477C2B78-B8CB-4540-8AB5-769325BF69A0}" type="pres">
      <dgm:prSet presAssocID="{F9B0F5E8-A289-4C43-8281-15ECD26C26D6}" presName="bgRect" presStyleLbl="bgShp" presStyleIdx="1" presStyleCnt="3"/>
      <dgm:spPr/>
    </dgm:pt>
    <dgm:pt modelId="{9555B935-90EF-4BE7-9897-0BAAC1CB2A18}" type="pres">
      <dgm:prSet presAssocID="{F9B0F5E8-A289-4C43-8281-15ECD26C26D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9C8D5C50-1F51-4727-B007-B6CD0CA01383}" type="pres">
      <dgm:prSet presAssocID="{F9B0F5E8-A289-4C43-8281-15ECD26C26D6}" presName="spaceRect" presStyleCnt="0"/>
      <dgm:spPr/>
    </dgm:pt>
    <dgm:pt modelId="{24AF3CC1-23FB-4402-88D9-B32AB9C65899}" type="pres">
      <dgm:prSet presAssocID="{F9B0F5E8-A289-4C43-8281-15ECD26C26D6}" presName="parTx" presStyleLbl="revTx" presStyleIdx="1" presStyleCnt="3">
        <dgm:presLayoutVars>
          <dgm:chMax val="0"/>
          <dgm:chPref val="0"/>
        </dgm:presLayoutVars>
      </dgm:prSet>
      <dgm:spPr/>
    </dgm:pt>
    <dgm:pt modelId="{3B4A4C9D-190E-4D9C-A24B-6CEC8F528788}" type="pres">
      <dgm:prSet presAssocID="{B33C43EE-B418-44CD-8899-270CC5110149}" presName="sibTrans" presStyleCnt="0"/>
      <dgm:spPr/>
    </dgm:pt>
    <dgm:pt modelId="{B4072F35-A8DD-4574-A733-545445C1999D}" type="pres">
      <dgm:prSet presAssocID="{661CF510-49F9-4D20-AAA9-3838ADA98BB4}" presName="compNode" presStyleCnt="0"/>
      <dgm:spPr/>
    </dgm:pt>
    <dgm:pt modelId="{C91943FE-BBCC-46C2-B9E6-2179B7D57453}" type="pres">
      <dgm:prSet presAssocID="{661CF510-49F9-4D20-AAA9-3838ADA98BB4}" presName="bgRect" presStyleLbl="bgShp" presStyleIdx="2" presStyleCnt="3"/>
      <dgm:spPr/>
    </dgm:pt>
    <dgm:pt modelId="{A9423DA3-EDBD-4094-9BA5-D99C03022FCD}" type="pres">
      <dgm:prSet presAssocID="{661CF510-49F9-4D20-AAA9-3838ADA98B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5901758C-0731-4A1B-97B8-B3C7CB8EDB8A}" type="pres">
      <dgm:prSet presAssocID="{661CF510-49F9-4D20-AAA9-3838ADA98BB4}" presName="spaceRect" presStyleCnt="0"/>
      <dgm:spPr/>
    </dgm:pt>
    <dgm:pt modelId="{0E73074A-4163-4617-B9DB-4C33E5AB798E}" type="pres">
      <dgm:prSet presAssocID="{661CF510-49F9-4D20-AAA9-3838ADA98BB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4800C13-0A52-4474-8A4B-AA6FEDF90D14}" type="presOf" srcId="{6C5AC8B4-BE5B-4CC5-BE95-E48A4B69E4E9}" destId="{D6F60488-2238-4E0A-971E-65C78953F760}" srcOrd="0" destOrd="0" presId="urn:microsoft.com/office/officeart/2018/2/layout/IconVerticalSolidList"/>
    <dgm:cxn modelId="{D6CB2923-B813-49EB-84A1-62DAC4ABBDFF}" type="presOf" srcId="{F9B0F5E8-A289-4C43-8281-15ECD26C26D6}" destId="{24AF3CC1-23FB-4402-88D9-B32AB9C65899}" srcOrd="0" destOrd="0" presId="urn:microsoft.com/office/officeart/2018/2/layout/IconVerticalSolidList"/>
    <dgm:cxn modelId="{CF44388E-BEB5-42C0-89E1-6FCAC91EEE8F}" srcId="{6C5AC8B4-BE5B-4CC5-BE95-E48A4B69E4E9}" destId="{661CF510-49F9-4D20-AAA9-3838ADA98BB4}" srcOrd="2" destOrd="0" parTransId="{997BFAD9-1A18-411E-BCC5-6F34D89035C8}" sibTransId="{C898CA0E-9972-4755-95BD-6F8FC98654BB}"/>
    <dgm:cxn modelId="{11FEDB96-C75F-4FAD-A1CA-A2A37EC4D6C7}" type="presOf" srcId="{D81CFEA3-0642-4CFA-ABCB-8E75E85D85A2}" destId="{61B7DF8C-205F-43B6-8FAE-BF45558F26AE}" srcOrd="0" destOrd="0" presId="urn:microsoft.com/office/officeart/2018/2/layout/IconVerticalSolidList"/>
    <dgm:cxn modelId="{499224B5-1349-403B-9747-B4599137846D}" srcId="{6C5AC8B4-BE5B-4CC5-BE95-E48A4B69E4E9}" destId="{D81CFEA3-0642-4CFA-ABCB-8E75E85D85A2}" srcOrd="0" destOrd="0" parTransId="{687B76BC-B13C-4E63-B4FE-98F1258C5BC1}" sibTransId="{AAE6B87D-53D4-4ED5-9D54-949C73C798E4}"/>
    <dgm:cxn modelId="{233D73C5-75B1-45B8-98B8-5C38841B0689}" srcId="{6C5AC8B4-BE5B-4CC5-BE95-E48A4B69E4E9}" destId="{F9B0F5E8-A289-4C43-8281-15ECD26C26D6}" srcOrd="1" destOrd="0" parTransId="{7CCB5B03-6C45-4E9A-B41B-8AC98BF44D82}" sibTransId="{B33C43EE-B418-44CD-8899-270CC5110149}"/>
    <dgm:cxn modelId="{CD0989F6-7BB4-429F-9E62-DC46AD7553AE}" type="presOf" srcId="{661CF510-49F9-4D20-AAA9-3838ADA98BB4}" destId="{0E73074A-4163-4617-B9DB-4C33E5AB798E}" srcOrd="0" destOrd="0" presId="urn:microsoft.com/office/officeart/2018/2/layout/IconVerticalSolidList"/>
    <dgm:cxn modelId="{56797C8D-FC2F-468F-823D-B1C584F13A4B}" type="presParOf" srcId="{D6F60488-2238-4E0A-971E-65C78953F760}" destId="{65BBC12D-E519-46B3-A201-06C978F5484E}" srcOrd="0" destOrd="0" presId="urn:microsoft.com/office/officeart/2018/2/layout/IconVerticalSolidList"/>
    <dgm:cxn modelId="{EED39BE1-4B08-4D3F-8246-8C9F5FEF1C5B}" type="presParOf" srcId="{65BBC12D-E519-46B3-A201-06C978F5484E}" destId="{BB492201-4DD5-47BC-BC6B-DA6534BE97E5}" srcOrd="0" destOrd="0" presId="urn:microsoft.com/office/officeart/2018/2/layout/IconVerticalSolidList"/>
    <dgm:cxn modelId="{419FAA9C-8E5E-42B1-AD71-9B00E57220F3}" type="presParOf" srcId="{65BBC12D-E519-46B3-A201-06C978F5484E}" destId="{C0F8DFDB-C8D5-4BF9-B439-7BC7E3E4047E}" srcOrd="1" destOrd="0" presId="urn:microsoft.com/office/officeart/2018/2/layout/IconVerticalSolidList"/>
    <dgm:cxn modelId="{97AFD0F5-5F96-4A78-A370-795574F49356}" type="presParOf" srcId="{65BBC12D-E519-46B3-A201-06C978F5484E}" destId="{A9A213D1-06F9-4883-BCC0-C6AA19259BF8}" srcOrd="2" destOrd="0" presId="urn:microsoft.com/office/officeart/2018/2/layout/IconVerticalSolidList"/>
    <dgm:cxn modelId="{BDFC154D-65D0-4E93-B4DE-AAFA23053C0F}" type="presParOf" srcId="{65BBC12D-E519-46B3-A201-06C978F5484E}" destId="{61B7DF8C-205F-43B6-8FAE-BF45558F26AE}" srcOrd="3" destOrd="0" presId="urn:microsoft.com/office/officeart/2018/2/layout/IconVerticalSolidList"/>
    <dgm:cxn modelId="{D8DA1E04-1063-41F8-A446-52E644EF7611}" type="presParOf" srcId="{D6F60488-2238-4E0A-971E-65C78953F760}" destId="{A07C2DF2-9370-4094-9E45-33BCB023157F}" srcOrd="1" destOrd="0" presId="urn:microsoft.com/office/officeart/2018/2/layout/IconVerticalSolidList"/>
    <dgm:cxn modelId="{0ECCDDC0-E251-431E-B9A7-DC13A50EBF97}" type="presParOf" srcId="{D6F60488-2238-4E0A-971E-65C78953F760}" destId="{5E6B323E-ABBD-42A4-AA9D-7B3A2904CC55}" srcOrd="2" destOrd="0" presId="urn:microsoft.com/office/officeart/2018/2/layout/IconVerticalSolidList"/>
    <dgm:cxn modelId="{CABD1D4C-647C-4767-BA85-0F5820102220}" type="presParOf" srcId="{5E6B323E-ABBD-42A4-AA9D-7B3A2904CC55}" destId="{477C2B78-B8CB-4540-8AB5-769325BF69A0}" srcOrd="0" destOrd="0" presId="urn:microsoft.com/office/officeart/2018/2/layout/IconVerticalSolidList"/>
    <dgm:cxn modelId="{34A02ED8-B361-406E-99CB-C8291444E82E}" type="presParOf" srcId="{5E6B323E-ABBD-42A4-AA9D-7B3A2904CC55}" destId="{9555B935-90EF-4BE7-9897-0BAAC1CB2A18}" srcOrd="1" destOrd="0" presId="urn:microsoft.com/office/officeart/2018/2/layout/IconVerticalSolidList"/>
    <dgm:cxn modelId="{D2482D21-9684-41C9-A6DA-C57C113C3D31}" type="presParOf" srcId="{5E6B323E-ABBD-42A4-AA9D-7B3A2904CC55}" destId="{9C8D5C50-1F51-4727-B007-B6CD0CA01383}" srcOrd="2" destOrd="0" presId="urn:microsoft.com/office/officeart/2018/2/layout/IconVerticalSolidList"/>
    <dgm:cxn modelId="{36B5C960-F7E9-4A1D-8D7D-B697397FB6EB}" type="presParOf" srcId="{5E6B323E-ABBD-42A4-AA9D-7B3A2904CC55}" destId="{24AF3CC1-23FB-4402-88D9-B32AB9C65899}" srcOrd="3" destOrd="0" presId="urn:microsoft.com/office/officeart/2018/2/layout/IconVerticalSolidList"/>
    <dgm:cxn modelId="{AF820B76-10F1-4923-AB89-13572C0E9BAB}" type="presParOf" srcId="{D6F60488-2238-4E0A-971E-65C78953F760}" destId="{3B4A4C9D-190E-4D9C-A24B-6CEC8F528788}" srcOrd="3" destOrd="0" presId="urn:microsoft.com/office/officeart/2018/2/layout/IconVerticalSolidList"/>
    <dgm:cxn modelId="{50729CFE-D313-4129-A66F-7AD4D7974B34}" type="presParOf" srcId="{D6F60488-2238-4E0A-971E-65C78953F760}" destId="{B4072F35-A8DD-4574-A733-545445C1999D}" srcOrd="4" destOrd="0" presId="urn:microsoft.com/office/officeart/2018/2/layout/IconVerticalSolidList"/>
    <dgm:cxn modelId="{BD4C15F1-3047-4221-97C6-7430323725C6}" type="presParOf" srcId="{B4072F35-A8DD-4574-A733-545445C1999D}" destId="{C91943FE-BBCC-46C2-B9E6-2179B7D57453}" srcOrd="0" destOrd="0" presId="urn:microsoft.com/office/officeart/2018/2/layout/IconVerticalSolidList"/>
    <dgm:cxn modelId="{2FDA0DAE-5AE0-4DD4-95D3-49216760449E}" type="presParOf" srcId="{B4072F35-A8DD-4574-A733-545445C1999D}" destId="{A9423DA3-EDBD-4094-9BA5-D99C03022FCD}" srcOrd="1" destOrd="0" presId="urn:microsoft.com/office/officeart/2018/2/layout/IconVerticalSolidList"/>
    <dgm:cxn modelId="{D3B76329-5226-4F90-B4A4-14D3B3BB141D}" type="presParOf" srcId="{B4072F35-A8DD-4574-A733-545445C1999D}" destId="{5901758C-0731-4A1B-97B8-B3C7CB8EDB8A}" srcOrd="2" destOrd="0" presId="urn:microsoft.com/office/officeart/2018/2/layout/IconVerticalSolidList"/>
    <dgm:cxn modelId="{887AA971-DDC4-4474-B2EA-ADE73D2984B0}" type="presParOf" srcId="{B4072F35-A8DD-4574-A733-545445C1999D}" destId="{0E73074A-4163-4617-B9DB-4C33E5AB79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59068A-C70C-44A9-AD88-7CF33131B3F9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E377308-692F-4893-8868-A4537DD475B6}">
      <dgm:prSet/>
      <dgm:spPr/>
      <dgm:t>
        <a:bodyPr/>
        <a:lstStyle/>
        <a:p>
          <a:r>
            <a:rPr lang="en-US" b="1"/>
            <a:t>Data Collection </a:t>
          </a:r>
          <a:r>
            <a:rPr lang="en-US"/>
            <a:t>(20%, Gathering relevant data is critical to ensure meaningful analysis.) </a:t>
          </a:r>
        </a:p>
      </dgm:t>
    </dgm:pt>
    <dgm:pt modelId="{8876C1F8-9CD8-4F22-A6F1-19710479F1A9}" type="parTrans" cxnId="{613B17AC-25EE-43C3-8011-FAE12D7616A3}">
      <dgm:prSet/>
      <dgm:spPr/>
      <dgm:t>
        <a:bodyPr/>
        <a:lstStyle/>
        <a:p>
          <a:endParaRPr lang="en-US"/>
        </a:p>
      </dgm:t>
    </dgm:pt>
    <dgm:pt modelId="{6BDFE043-1D17-409A-A85D-6CBD18FA53A7}" type="sibTrans" cxnId="{613B17AC-25EE-43C3-8011-FAE12D7616A3}">
      <dgm:prSet/>
      <dgm:spPr/>
      <dgm:t>
        <a:bodyPr/>
        <a:lstStyle/>
        <a:p>
          <a:endParaRPr lang="en-US"/>
        </a:p>
      </dgm:t>
    </dgm:pt>
    <dgm:pt modelId="{A003EA6D-8775-413E-8595-0CD7ACE92C42}">
      <dgm:prSet/>
      <dgm:spPr/>
      <dgm:t>
        <a:bodyPr/>
        <a:lstStyle/>
        <a:p>
          <a:r>
            <a:rPr lang="en-US" b="1"/>
            <a:t>Cleaning</a:t>
          </a:r>
          <a:r>
            <a:rPr lang="en-US"/>
            <a:t> (25%, Most effort is spent here; ensures data quality by handling errors, duplicates, missing values.) </a:t>
          </a:r>
        </a:p>
      </dgm:t>
    </dgm:pt>
    <dgm:pt modelId="{9EA5B19D-94BD-477C-8CDF-86A7541BA9F1}" type="parTrans" cxnId="{2697E659-22C3-47D2-90F3-BCCEFD8FA247}">
      <dgm:prSet/>
      <dgm:spPr/>
      <dgm:t>
        <a:bodyPr/>
        <a:lstStyle/>
        <a:p>
          <a:endParaRPr lang="en-US"/>
        </a:p>
      </dgm:t>
    </dgm:pt>
    <dgm:pt modelId="{BD85E09A-A8EA-46DB-924F-C03F11B9E584}" type="sibTrans" cxnId="{2697E659-22C3-47D2-90F3-BCCEFD8FA247}">
      <dgm:prSet/>
      <dgm:spPr/>
      <dgm:t>
        <a:bodyPr/>
        <a:lstStyle/>
        <a:p>
          <a:endParaRPr lang="en-US"/>
        </a:p>
      </dgm:t>
    </dgm:pt>
    <dgm:pt modelId="{51D8C5EE-0737-4C56-B4E9-A8E8488023F9}">
      <dgm:prSet/>
      <dgm:spPr/>
      <dgm:t>
        <a:bodyPr/>
        <a:lstStyle/>
        <a:p>
          <a:r>
            <a:rPr lang="en-US" b="1"/>
            <a:t>Exploration</a:t>
          </a:r>
          <a:r>
            <a:rPr lang="en-US"/>
            <a:t> (15%, </a:t>
          </a:r>
          <a:r>
            <a:rPr lang="en-NZ"/>
            <a:t>Understand patterns, trends, and anomalies; drives hypothesis formation.</a:t>
          </a:r>
          <a:r>
            <a:rPr lang="en-US"/>
            <a:t>)</a:t>
          </a:r>
        </a:p>
      </dgm:t>
    </dgm:pt>
    <dgm:pt modelId="{7A53F870-366A-41A1-828F-08D53CE93D2B}" type="parTrans" cxnId="{97E49E5D-8F75-4327-986D-00D300323AE3}">
      <dgm:prSet/>
      <dgm:spPr/>
      <dgm:t>
        <a:bodyPr/>
        <a:lstStyle/>
        <a:p>
          <a:endParaRPr lang="en-US"/>
        </a:p>
      </dgm:t>
    </dgm:pt>
    <dgm:pt modelId="{6CB3B9BE-5D74-405C-8C39-ACDF3D6D359C}" type="sibTrans" cxnId="{97E49E5D-8F75-4327-986D-00D300323AE3}">
      <dgm:prSet/>
      <dgm:spPr/>
      <dgm:t>
        <a:bodyPr/>
        <a:lstStyle/>
        <a:p>
          <a:endParaRPr lang="en-US"/>
        </a:p>
      </dgm:t>
    </dgm:pt>
    <dgm:pt modelId="{9563EF2B-A1E7-4810-8572-8CE6BD155F05}">
      <dgm:prSet/>
      <dgm:spPr/>
      <dgm:t>
        <a:bodyPr/>
        <a:lstStyle/>
        <a:p>
          <a:r>
            <a:rPr lang="en-US" b="1"/>
            <a:t>Modeling</a:t>
          </a:r>
          <a:r>
            <a:rPr lang="en-US"/>
            <a:t> (15%, Develop predictive or descriptive models based on cleaned, explored data.) </a:t>
          </a:r>
        </a:p>
      </dgm:t>
    </dgm:pt>
    <dgm:pt modelId="{5D7AA773-DC57-4D7C-9200-99B9B3B2B2C5}" type="parTrans" cxnId="{E5EEB9D8-5C3A-4B54-B01E-8D6064298D69}">
      <dgm:prSet/>
      <dgm:spPr/>
      <dgm:t>
        <a:bodyPr/>
        <a:lstStyle/>
        <a:p>
          <a:endParaRPr lang="en-US"/>
        </a:p>
      </dgm:t>
    </dgm:pt>
    <dgm:pt modelId="{77E83CA2-34CD-46DB-8ACC-DF75EB372197}" type="sibTrans" cxnId="{E5EEB9D8-5C3A-4B54-B01E-8D6064298D69}">
      <dgm:prSet/>
      <dgm:spPr/>
      <dgm:t>
        <a:bodyPr/>
        <a:lstStyle/>
        <a:p>
          <a:endParaRPr lang="en-US"/>
        </a:p>
      </dgm:t>
    </dgm:pt>
    <dgm:pt modelId="{C2219CD2-B462-48FE-B588-E7B8FEEB1FAC}">
      <dgm:prSet/>
      <dgm:spPr/>
      <dgm:t>
        <a:bodyPr/>
        <a:lstStyle/>
        <a:p>
          <a:r>
            <a:rPr lang="en-US" b="1"/>
            <a:t>Visualization</a:t>
          </a:r>
          <a:r>
            <a:rPr lang="en-US"/>
            <a:t> (10%, Communicate insights effectively through charts, graphs, and dashboards.) </a:t>
          </a:r>
        </a:p>
      </dgm:t>
    </dgm:pt>
    <dgm:pt modelId="{B51B254B-67A6-440C-8108-ED5656C80BF7}" type="parTrans" cxnId="{E3845DC8-760E-4877-8A58-F9DF161E5DFD}">
      <dgm:prSet/>
      <dgm:spPr/>
      <dgm:t>
        <a:bodyPr/>
        <a:lstStyle/>
        <a:p>
          <a:endParaRPr lang="en-US"/>
        </a:p>
      </dgm:t>
    </dgm:pt>
    <dgm:pt modelId="{BB05D767-9284-4BD6-87A3-CA061E10C833}" type="sibTrans" cxnId="{E3845DC8-760E-4877-8A58-F9DF161E5DFD}">
      <dgm:prSet/>
      <dgm:spPr/>
      <dgm:t>
        <a:bodyPr/>
        <a:lstStyle/>
        <a:p>
          <a:endParaRPr lang="en-US"/>
        </a:p>
      </dgm:t>
    </dgm:pt>
    <dgm:pt modelId="{B7CB498B-41AA-4648-BAF0-21C88F913A71}">
      <dgm:prSet/>
      <dgm:spPr/>
      <dgm:t>
        <a:bodyPr/>
        <a:lstStyle/>
        <a:p>
          <a:r>
            <a:rPr lang="en-US" b="1"/>
            <a:t>Actionable Insights </a:t>
          </a:r>
          <a:r>
            <a:rPr lang="en-US"/>
            <a:t>(15%, Translate analysis into decisions or strategic actions.)</a:t>
          </a:r>
        </a:p>
      </dgm:t>
    </dgm:pt>
    <dgm:pt modelId="{62C4535F-4926-427F-916F-1921B003088A}" type="parTrans" cxnId="{4D814EFE-056F-43F9-990A-E961E1320B62}">
      <dgm:prSet/>
      <dgm:spPr/>
      <dgm:t>
        <a:bodyPr/>
        <a:lstStyle/>
        <a:p>
          <a:endParaRPr lang="en-US"/>
        </a:p>
      </dgm:t>
    </dgm:pt>
    <dgm:pt modelId="{923B791F-F059-431E-9E56-68AC9EAFEE3D}" type="sibTrans" cxnId="{4D814EFE-056F-43F9-990A-E961E1320B62}">
      <dgm:prSet/>
      <dgm:spPr/>
      <dgm:t>
        <a:bodyPr/>
        <a:lstStyle/>
        <a:p>
          <a:endParaRPr lang="en-US"/>
        </a:p>
      </dgm:t>
    </dgm:pt>
    <dgm:pt modelId="{9A450BBB-3736-408A-96F3-8C223B73E667}" type="pres">
      <dgm:prSet presAssocID="{E859068A-C70C-44A9-AD88-7CF33131B3F9}" presName="compositeShape" presStyleCnt="0">
        <dgm:presLayoutVars>
          <dgm:chMax val="7"/>
          <dgm:dir/>
          <dgm:resizeHandles val="exact"/>
        </dgm:presLayoutVars>
      </dgm:prSet>
      <dgm:spPr/>
    </dgm:pt>
    <dgm:pt modelId="{884D2D1F-D2E8-4909-A233-2A11BB72F251}" type="pres">
      <dgm:prSet presAssocID="{E859068A-C70C-44A9-AD88-7CF33131B3F9}" presName="wedge1" presStyleLbl="node1" presStyleIdx="0" presStyleCnt="6"/>
      <dgm:spPr/>
    </dgm:pt>
    <dgm:pt modelId="{07F12011-1D87-489A-967C-D1BCAA170520}" type="pres">
      <dgm:prSet presAssocID="{E859068A-C70C-44A9-AD88-7CF33131B3F9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E27F0816-779C-43E3-9094-A718B143C923}" type="pres">
      <dgm:prSet presAssocID="{E859068A-C70C-44A9-AD88-7CF33131B3F9}" presName="wedge2" presStyleLbl="node1" presStyleIdx="1" presStyleCnt="6"/>
      <dgm:spPr/>
    </dgm:pt>
    <dgm:pt modelId="{BA08BECD-CA69-49FA-AF16-9D3202AF6093}" type="pres">
      <dgm:prSet presAssocID="{E859068A-C70C-44A9-AD88-7CF33131B3F9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A059B2E9-7A5B-46A8-B8C7-482EB1B82E8C}" type="pres">
      <dgm:prSet presAssocID="{E859068A-C70C-44A9-AD88-7CF33131B3F9}" presName="wedge3" presStyleLbl="node1" presStyleIdx="2" presStyleCnt="6"/>
      <dgm:spPr/>
    </dgm:pt>
    <dgm:pt modelId="{93AD675D-B188-49FD-AB6A-C0D2808373A0}" type="pres">
      <dgm:prSet presAssocID="{E859068A-C70C-44A9-AD88-7CF33131B3F9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834006AE-3934-46B2-BBC0-6A24F18ADF53}" type="pres">
      <dgm:prSet presAssocID="{E859068A-C70C-44A9-AD88-7CF33131B3F9}" presName="wedge4" presStyleLbl="node1" presStyleIdx="3" presStyleCnt="6"/>
      <dgm:spPr/>
    </dgm:pt>
    <dgm:pt modelId="{1F6A51AA-3566-45FD-8E01-06F3AEC8EA28}" type="pres">
      <dgm:prSet presAssocID="{E859068A-C70C-44A9-AD88-7CF33131B3F9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B83D5B0E-0E39-4D92-8EC9-368779B237CE}" type="pres">
      <dgm:prSet presAssocID="{E859068A-C70C-44A9-AD88-7CF33131B3F9}" presName="wedge5" presStyleLbl="node1" presStyleIdx="4" presStyleCnt="6"/>
      <dgm:spPr/>
    </dgm:pt>
    <dgm:pt modelId="{A726EADA-8CD3-4525-BB08-E03FD6884327}" type="pres">
      <dgm:prSet presAssocID="{E859068A-C70C-44A9-AD88-7CF33131B3F9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45DA9F9E-962D-4C29-A474-A269CCF570A8}" type="pres">
      <dgm:prSet presAssocID="{E859068A-C70C-44A9-AD88-7CF33131B3F9}" presName="wedge6" presStyleLbl="node1" presStyleIdx="5" presStyleCnt="6"/>
      <dgm:spPr/>
    </dgm:pt>
    <dgm:pt modelId="{9DAF6DF7-E150-45AF-9811-D5E0096BA465}" type="pres">
      <dgm:prSet presAssocID="{E859068A-C70C-44A9-AD88-7CF33131B3F9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028E6D1F-5DDE-43BC-8E1A-8005BD56BB2F}" type="presOf" srcId="{51D8C5EE-0737-4C56-B4E9-A8E8488023F9}" destId="{A059B2E9-7A5B-46A8-B8C7-482EB1B82E8C}" srcOrd="0" destOrd="0" presId="urn:microsoft.com/office/officeart/2005/8/layout/chart3"/>
    <dgm:cxn modelId="{3E05822E-D9AE-4F04-8B77-861F6F4C4D5F}" type="presOf" srcId="{A003EA6D-8775-413E-8595-0CD7ACE92C42}" destId="{E27F0816-779C-43E3-9094-A718B143C923}" srcOrd="0" destOrd="0" presId="urn:microsoft.com/office/officeart/2005/8/layout/chart3"/>
    <dgm:cxn modelId="{91364536-CCA0-424B-8FF4-36372A52BABD}" type="presOf" srcId="{9563EF2B-A1E7-4810-8572-8CE6BD155F05}" destId="{834006AE-3934-46B2-BBC0-6A24F18ADF53}" srcOrd="0" destOrd="0" presId="urn:microsoft.com/office/officeart/2005/8/layout/chart3"/>
    <dgm:cxn modelId="{97E49E5D-8F75-4327-986D-00D300323AE3}" srcId="{E859068A-C70C-44A9-AD88-7CF33131B3F9}" destId="{51D8C5EE-0737-4C56-B4E9-A8E8488023F9}" srcOrd="2" destOrd="0" parTransId="{7A53F870-366A-41A1-828F-08D53CE93D2B}" sibTransId="{6CB3B9BE-5D74-405C-8C39-ACDF3D6D359C}"/>
    <dgm:cxn modelId="{F8C2A160-5577-41C0-B0AB-DE3D665F3986}" type="presOf" srcId="{9563EF2B-A1E7-4810-8572-8CE6BD155F05}" destId="{1F6A51AA-3566-45FD-8E01-06F3AEC8EA28}" srcOrd="1" destOrd="0" presId="urn:microsoft.com/office/officeart/2005/8/layout/chart3"/>
    <dgm:cxn modelId="{0B59AC4C-0B7A-4730-B5DF-515B430176D2}" type="presOf" srcId="{2E377308-692F-4893-8868-A4537DD475B6}" destId="{07F12011-1D87-489A-967C-D1BCAA170520}" srcOrd="1" destOrd="0" presId="urn:microsoft.com/office/officeart/2005/8/layout/chart3"/>
    <dgm:cxn modelId="{EC5B146D-46AB-444A-9877-8C14A733FF79}" type="presOf" srcId="{E859068A-C70C-44A9-AD88-7CF33131B3F9}" destId="{9A450BBB-3736-408A-96F3-8C223B73E667}" srcOrd="0" destOrd="0" presId="urn:microsoft.com/office/officeart/2005/8/layout/chart3"/>
    <dgm:cxn modelId="{64183A4D-29CE-4A49-A36C-542FE23AF3C2}" type="presOf" srcId="{C2219CD2-B462-48FE-B588-E7B8FEEB1FAC}" destId="{B83D5B0E-0E39-4D92-8EC9-368779B237CE}" srcOrd="0" destOrd="0" presId="urn:microsoft.com/office/officeart/2005/8/layout/chart3"/>
    <dgm:cxn modelId="{2697E659-22C3-47D2-90F3-BCCEFD8FA247}" srcId="{E859068A-C70C-44A9-AD88-7CF33131B3F9}" destId="{A003EA6D-8775-413E-8595-0CD7ACE92C42}" srcOrd="1" destOrd="0" parTransId="{9EA5B19D-94BD-477C-8CDF-86A7541BA9F1}" sibTransId="{BD85E09A-A8EA-46DB-924F-C03F11B9E584}"/>
    <dgm:cxn modelId="{EB18C17D-46D1-493B-BFEC-1043D7BA62B3}" type="presOf" srcId="{B7CB498B-41AA-4648-BAF0-21C88F913A71}" destId="{45DA9F9E-962D-4C29-A474-A269CCF570A8}" srcOrd="0" destOrd="0" presId="urn:microsoft.com/office/officeart/2005/8/layout/chart3"/>
    <dgm:cxn modelId="{613B17AC-25EE-43C3-8011-FAE12D7616A3}" srcId="{E859068A-C70C-44A9-AD88-7CF33131B3F9}" destId="{2E377308-692F-4893-8868-A4537DD475B6}" srcOrd="0" destOrd="0" parTransId="{8876C1F8-9CD8-4F22-A6F1-19710479F1A9}" sibTransId="{6BDFE043-1D17-409A-A85D-6CBD18FA53A7}"/>
    <dgm:cxn modelId="{5CA4BAB3-597D-4401-BC9F-D5BCF4CD7286}" type="presOf" srcId="{B7CB498B-41AA-4648-BAF0-21C88F913A71}" destId="{9DAF6DF7-E150-45AF-9811-D5E0096BA465}" srcOrd="1" destOrd="0" presId="urn:microsoft.com/office/officeart/2005/8/layout/chart3"/>
    <dgm:cxn modelId="{A221DBC4-F074-4C76-A19D-650592B0248E}" type="presOf" srcId="{2E377308-692F-4893-8868-A4537DD475B6}" destId="{884D2D1F-D2E8-4909-A233-2A11BB72F251}" srcOrd="0" destOrd="0" presId="urn:microsoft.com/office/officeart/2005/8/layout/chart3"/>
    <dgm:cxn modelId="{E3845DC8-760E-4877-8A58-F9DF161E5DFD}" srcId="{E859068A-C70C-44A9-AD88-7CF33131B3F9}" destId="{C2219CD2-B462-48FE-B588-E7B8FEEB1FAC}" srcOrd="4" destOrd="0" parTransId="{B51B254B-67A6-440C-8108-ED5656C80BF7}" sibTransId="{BB05D767-9284-4BD6-87A3-CA061E10C833}"/>
    <dgm:cxn modelId="{6311F9C8-294D-4F1A-9C5B-A2548D6E1FEC}" type="presOf" srcId="{C2219CD2-B462-48FE-B588-E7B8FEEB1FAC}" destId="{A726EADA-8CD3-4525-BB08-E03FD6884327}" srcOrd="1" destOrd="0" presId="urn:microsoft.com/office/officeart/2005/8/layout/chart3"/>
    <dgm:cxn modelId="{7ACC1ACB-37BE-43C8-B21C-A7824E7E3263}" type="presOf" srcId="{51D8C5EE-0737-4C56-B4E9-A8E8488023F9}" destId="{93AD675D-B188-49FD-AB6A-C0D2808373A0}" srcOrd="1" destOrd="0" presId="urn:microsoft.com/office/officeart/2005/8/layout/chart3"/>
    <dgm:cxn modelId="{E5EEB9D8-5C3A-4B54-B01E-8D6064298D69}" srcId="{E859068A-C70C-44A9-AD88-7CF33131B3F9}" destId="{9563EF2B-A1E7-4810-8572-8CE6BD155F05}" srcOrd="3" destOrd="0" parTransId="{5D7AA773-DC57-4D7C-9200-99B9B3B2B2C5}" sibTransId="{77E83CA2-34CD-46DB-8ACC-DF75EB372197}"/>
    <dgm:cxn modelId="{4740D1F8-5857-456B-83B8-B2AEE8C683EA}" type="presOf" srcId="{A003EA6D-8775-413E-8595-0CD7ACE92C42}" destId="{BA08BECD-CA69-49FA-AF16-9D3202AF6093}" srcOrd="1" destOrd="0" presId="urn:microsoft.com/office/officeart/2005/8/layout/chart3"/>
    <dgm:cxn modelId="{4D814EFE-056F-43F9-990A-E961E1320B62}" srcId="{E859068A-C70C-44A9-AD88-7CF33131B3F9}" destId="{B7CB498B-41AA-4648-BAF0-21C88F913A71}" srcOrd="5" destOrd="0" parTransId="{62C4535F-4926-427F-916F-1921B003088A}" sibTransId="{923B791F-F059-431E-9E56-68AC9EAFEE3D}"/>
    <dgm:cxn modelId="{A2EFF46F-BD10-4858-BA2C-38FA5B464269}" type="presParOf" srcId="{9A450BBB-3736-408A-96F3-8C223B73E667}" destId="{884D2D1F-D2E8-4909-A233-2A11BB72F251}" srcOrd="0" destOrd="0" presId="urn:microsoft.com/office/officeart/2005/8/layout/chart3"/>
    <dgm:cxn modelId="{E73E307F-66D5-4828-9F20-C4BBDE87A1D5}" type="presParOf" srcId="{9A450BBB-3736-408A-96F3-8C223B73E667}" destId="{07F12011-1D87-489A-967C-D1BCAA170520}" srcOrd="1" destOrd="0" presId="urn:microsoft.com/office/officeart/2005/8/layout/chart3"/>
    <dgm:cxn modelId="{E77EF285-30BA-42C8-B323-DEA4E252144B}" type="presParOf" srcId="{9A450BBB-3736-408A-96F3-8C223B73E667}" destId="{E27F0816-779C-43E3-9094-A718B143C923}" srcOrd="2" destOrd="0" presId="urn:microsoft.com/office/officeart/2005/8/layout/chart3"/>
    <dgm:cxn modelId="{6791C842-E0D9-4253-BDE0-A0B0EDB0FEBE}" type="presParOf" srcId="{9A450BBB-3736-408A-96F3-8C223B73E667}" destId="{BA08BECD-CA69-49FA-AF16-9D3202AF6093}" srcOrd="3" destOrd="0" presId="urn:microsoft.com/office/officeart/2005/8/layout/chart3"/>
    <dgm:cxn modelId="{48A638CC-77F5-419B-9AEC-11209AAE80A5}" type="presParOf" srcId="{9A450BBB-3736-408A-96F3-8C223B73E667}" destId="{A059B2E9-7A5B-46A8-B8C7-482EB1B82E8C}" srcOrd="4" destOrd="0" presId="urn:microsoft.com/office/officeart/2005/8/layout/chart3"/>
    <dgm:cxn modelId="{8AF692B8-B73D-4BEF-B9AB-CBAE0C433879}" type="presParOf" srcId="{9A450BBB-3736-408A-96F3-8C223B73E667}" destId="{93AD675D-B188-49FD-AB6A-C0D2808373A0}" srcOrd="5" destOrd="0" presId="urn:microsoft.com/office/officeart/2005/8/layout/chart3"/>
    <dgm:cxn modelId="{DF1E53CB-79C5-435E-A80B-530EA5B56A00}" type="presParOf" srcId="{9A450BBB-3736-408A-96F3-8C223B73E667}" destId="{834006AE-3934-46B2-BBC0-6A24F18ADF53}" srcOrd="6" destOrd="0" presId="urn:microsoft.com/office/officeart/2005/8/layout/chart3"/>
    <dgm:cxn modelId="{E32B3C41-8634-44B6-859B-96C91D7876B8}" type="presParOf" srcId="{9A450BBB-3736-408A-96F3-8C223B73E667}" destId="{1F6A51AA-3566-45FD-8E01-06F3AEC8EA28}" srcOrd="7" destOrd="0" presId="urn:microsoft.com/office/officeart/2005/8/layout/chart3"/>
    <dgm:cxn modelId="{6C0C56E4-AFFA-4CD8-A5C1-F81093C45398}" type="presParOf" srcId="{9A450BBB-3736-408A-96F3-8C223B73E667}" destId="{B83D5B0E-0E39-4D92-8EC9-368779B237CE}" srcOrd="8" destOrd="0" presId="urn:microsoft.com/office/officeart/2005/8/layout/chart3"/>
    <dgm:cxn modelId="{0FF5B8C3-DBFB-45DA-8EAC-CD4F872F5779}" type="presParOf" srcId="{9A450BBB-3736-408A-96F3-8C223B73E667}" destId="{A726EADA-8CD3-4525-BB08-E03FD6884327}" srcOrd="9" destOrd="0" presId="urn:microsoft.com/office/officeart/2005/8/layout/chart3"/>
    <dgm:cxn modelId="{31354B76-5612-4673-91A7-43ABFA9939EA}" type="presParOf" srcId="{9A450BBB-3736-408A-96F3-8C223B73E667}" destId="{45DA9F9E-962D-4C29-A474-A269CCF570A8}" srcOrd="10" destOrd="0" presId="urn:microsoft.com/office/officeart/2005/8/layout/chart3"/>
    <dgm:cxn modelId="{D31EA410-5471-48B5-B128-9CA76F34AF39}" type="presParOf" srcId="{9A450BBB-3736-408A-96F3-8C223B73E667}" destId="{9DAF6DF7-E150-45AF-9811-D5E0096BA465}" srcOrd="1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71C032-352C-4D3A-8029-BCB4CA88D9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DBB8042-2981-4495-B04A-77A45809DAF5}">
      <dgm:prSet/>
      <dgm:spPr/>
      <dgm:t>
        <a:bodyPr/>
        <a:lstStyle/>
        <a:p>
          <a:r>
            <a:rPr lang="en-US" b="1" i="0" baseline="0"/>
            <a:t>Data Analytics</a:t>
          </a:r>
          <a:r>
            <a:rPr lang="en-US" b="0" i="0" baseline="0"/>
            <a:t> is central to digital transformation, turning raw data into actionable insights for smarter decision-making.</a:t>
          </a:r>
          <a:endParaRPr lang="en-US"/>
        </a:p>
      </dgm:t>
    </dgm:pt>
    <dgm:pt modelId="{96385E1C-D73C-423F-800F-572201A7582B}" type="parTrans" cxnId="{3C952553-5AB4-420C-A39B-3A9B1B0034EC}">
      <dgm:prSet/>
      <dgm:spPr/>
      <dgm:t>
        <a:bodyPr/>
        <a:lstStyle/>
        <a:p>
          <a:endParaRPr lang="en-US"/>
        </a:p>
      </dgm:t>
    </dgm:pt>
    <dgm:pt modelId="{639BE3F3-EE93-4A22-AB1D-ED8A407FA09E}" type="sibTrans" cxnId="{3C952553-5AB4-420C-A39B-3A9B1B0034EC}">
      <dgm:prSet/>
      <dgm:spPr/>
      <dgm:t>
        <a:bodyPr/>
        <a:lstStyle/>
        <a:p>
          <a:endParaRPr lang="en-US"/>
        </a:p>
      </dgm:t>
    </dgm:pt>
    <dgm:pt modelId="{0E610EBA-1151-4A00-B1B4-010CFD8527DB}">
      <dgm:prSet/>
      <dgm:spPr/>
      <dgm:t>
        <a:bodyPr/>
        <a:lstStyle/>
        <a:p>
          <a:r>
            <a:rPr lang="en-US" b="1" i="0" baseline="0"/>
            <a:t>Key Roles</a:t>
          </a:r>
          <a:r>
            <a:rPr lang="en-US" b="0" i="0" baseline="0"/>
            <a:t>: Identifying patterns, predicting outcomes, and recommending actions across industries like healthcare, retail, and agriculture.</a:t>
          </a:r>
          <a:endParaRPr lang="en-US"/>
        </a:p>
      </dgm:t>
    </dgm:pt>
    <dgm:pt modelId="{7F290CD9-C58B-4955-877E-52CFC8CA3071}" type="parTrans" cxnId="{DF794BD3-1EF8-462A-B501-900B271A244C}">
      <dgm:prSet/>
      <dgm:spPr/>
      <dgm:t>
        <a:bodyPr/>
        <a:lstStyle/>
        <a:p>
          <a:endParaRPr lang="en-US"/>
        </a:p>
      </dgm:t>
    </dgm:pt>
    <dgm:pt modelId="{EF4A4961-D350-4D9E-911C-AD892D6EE9D1}" type="sibTrans" cxnId="{DF794BD3-1EF8-462A-B501-900B271A244C}">
      <dgm:prSet/>
      <dgm:spPr/>
      <dgm:t>
        <a:bodyPr/>
        <a:lstStyle/>
        <a:p>
          <a:endParaRPr lang="en-US"/>
        </a:p>
      </dgm:t>
    </dgm:pt>
    <dgm:pt modelId="{893C2AD1-EFAE-4141-B0C6-A92F5D1D5E66}">
      <dgm:prSet/>
      <dgm:spPr/>
      <dgm:t>
        <a:bodyPr/>
        <a:lstStyle/>
        <a:p>
          <a:r>
            <a:rPr lang="en-US" b="1" i="0" baseline="0"/>
            <a:t>Challenges</a:t>
          </a:r>
          <a:r>
            <a:rPr lang="en-US" b="0" i="0" baseline="0"/>
            <a:t>: Data privacy, quality issues, integration, and real-time processing remain key obstacles.</a:t>
          </a:r>
          <a:endParaRPr lang="en-US"/>
        </a:p>
      </dgm:t>
    </dgm:pt>
    <dgm:pt modelId="{106A34AA-1B3F-465D-9A49-674CAD1EC8C2}" type="parTrans" cxnId="{AF988808-00B4-4EFF-B40A-518CDC7AB345}">
      <dgm:prSet/>
      <dgm:spPr/>
      <dgm:t>
        <a:bodyPr/>
        <a:lstStyle/>
        <a:p>
          <a:endParaRPr lang="en-US"/>
        </a:p>
      </dgm:t>
    </dgm:pt>
    <dgm:pt modelId="{82FE305F-DDD8-4AE2-B001-A69BEB040627}" type="sibTrans" cxnId="{AF988808-00B4-4EFF-B40A-518CDC7AB345}">
      <dgm:prSet/>
      <dgm:spPr/>
      <dgm:t>
        <a:bodyPr/>
        <a:lstStyle/>
        <a:p>
          <a:endParaRPr lang="en-US"/>
        </a:p>
      </dgm:t>
    </dgm:pt>
    <dgm:pt modelId="{5D0CAA5D-285A-4FCD-89DD-8ABC14C4D65F}">
      <dgm:prSet/>
      <dgm:spPr/>
      <dgm:t>
        <a:bodyPr/>
        <a:lstStyle/>
        <a:p>
          <a:r>
            <a:rPr lang="en-US" b="1" i="0" baseline="0"/>
            <a:t>The Future</a:t>
          </a:r>
          <a:r>
            <a:rPr lang="en-US" b="0" i="0" baseline="0"/>
            <a:t>: Mastering data analytics tools and techniques positions you to thrive in a data-driven world, empowering innovation and informed decisions.</a:t>
          </a:r>
          <a:endParaRPr lang="en-US"/>
        </a:p>
      </dgm:t>
    </dgm:pt>
    <dgm:pt modelId="{307E1F6D-250C-4B9C-8FC5-1DC18A32083C}" type="parTrans" cxnId="{6A3225BE-BCA2-43F9-921E-659A2E0B0CFE}">
      <dgm:prSet/>
      <dgm:spPr/>
      <dgm:t>
        <a:bodyPr/>
        <a:lstStyle/>
        <a:p>
          <a:endParaRPr lang="en-US"/>
        </a:p>
      </dgm:t>
    </dgm:pt>
    <dgm:pt modelId="{B9C42C99-8936-4F65-B12C-1BFA97036FEC}" type="sibTrans" cxnId="{6A3225BE-BCA2-43F9-921E-659A2E0B0CFE}">
      <dgm:prSet/>
      <dgm:spPr/>
      <dgm:t>
        <a:bodyPr/>
        <a:lstStyle/>
        <a:p>
          <a:endParaRPr lang="en-US"/>
        </a:p>
      </dgm:t>
    </dgm:pt>
    <dgm:pt modelId="{E59309F6-2B59-48C5-B4BC-2C42B03AA901}" type="pres">
      <dgm:prSet presAssocID="{1B71C032-352C-4D3A-8029-BCB4CA88D926}" presName="root" presStyleCnt="0">
        <dgm:presLayoutVars>
          <dgm:dir/>
          <dgm:resizeHandles val="exact"/>
        </dgm:presLayoutVars>
      </dgm:prSet>
      <dgm:spPr/>
    </dgm:pt>
    <dgm:pt modelId="{2D36ED89-9C69-48F5-BFB1-A3D69F1D5A43}" type="pres">
      <dgm:prSet presAssocID="{8DBB8042-2981-4495-B04A-77A45809DAF5}" presName="compNode" presStyleCnt="0"/>
      <dgm:spPr/>
    </dgm:pt>
    <dgm:pt modelId="{4FA9D6C8-F3FC-4F49-BA29-78615CDBEEEF}" type="pres">
      <dgm:prSet presAssocID="{8DBB8042-2981-4495-B04A-77A45809DAF5}" presName="bgRect" presStyleLbl="bgShp" presStyleIdx="0" presStyleCnt="4"/>
      <dgm:spPr/>
    </dgm:pt>
    <dgm:pt modelId="{35913A03-5226-4928-B030-75CF06D93861}" type="pres">
      <dgm:prSet presAssocID="{8DBB8042-2981-4495-B04A-77A45809DAF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E050915-4107-4B39-A1A0-8FE0E84E6F01}" type="pres">
      <dgm:prSet presAssocID="{8DBB8042-2981-4495-B04A-77A45809DAF5}" presName="spaceRect" presStyleCnt="0"/>
      <dgm:spPr/>
    </dgm:pt>
    <dgm:pt modelId="{59D9AC2E-E168-45F5-998B-B1F4D425D405}" type="pres">
      <dgm:prSet presAssocID="{8DBB8042-2981-4495-B04A-77A45809DAF5}" presName="parTx" presStyleLbl="revTx" presStyleIdx="0" presStyleCnt="4">
        <dgm:presLayoutVars>
          <dgm:chMax val="0"/>
          <dgm:chPref val="0"/>
        </dgm:presLayoutVars>
      </dgm:prSet>
      <dgm:spPr/>
    </dgm:pt>
    <dgm:pt modelId="{B47E8BD6-D2BA-41BE-A151-4126E2327ED7}" type="pres">
      <dgm:prSet presAssocID="{639BE3F3-EE93-4A22-AB1D-ED8A407FA09E}" presName="sibTrans" presStyleCnt="0"/>
      <dgm:spPr/>
    </dgm:pt>
    <dgm:pt modelId="{083EA821-E94D-40E0-AF7B-317EB89FDDF5}" type="pres">
      <dgm:prSet presAssocID="{0E610EBA-1151-4A00-B1B4-010CFD8527DB}" presName="compNode" presStyleCnt="0"/>
      <dgm:spPr/>
    </dgm:pt>
    <dgm:pt modelId="{CC160C70-D81D-4751-BB3B-762BD60F9501}" type="pres">
      <dgm:prSet presAssocID="{0E610EBA-1151-4A00-B1B4-010CFD8527DB}" presName="bgRect" presStyleLbl="bgShp" presStyleIdx="1" presStyleCnt="4"/>
      <dgm:spPr/>
    </dgm:pt>
    <dgm:pt modelId="{FBA8FC5F-9F00-4C9A-99B5-170D6CBF4EF5}" type="pres">
      <dgm:prSet presAssocID="{0E610EBA-1151-4A00-B1B4-010CFD8527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4F2FE33D-59E0-4FB3-901C-86ED9C77CF4A}" type="pres">
      <dgm:prSet presAssocID="{0E610EBA-1151-4A00-B1B4-010CFD8527DB}" presName="spaceRect" presStyleCnt="0"/>
      <dgm:spPr/>
    </dgm:pt>
    <dgm:pt modelId="{39FBEFA6-E55D-4A2A-8A93-82BDA9469EEB}" type="pres">
      <dgm:prSet presAssocID="{0E610EBA-1151-4A00-B1B4-010CFD8527DB}" presName="parTx" presStyleLbl="revTx" presStyleIdx="1" presStyleCnt="4">
        <dgm:presLayoutVars>
          <dgm:chMax val="0"/>
          <dgm:chPref val="0"/>
        </dgm:presLayoutVars>
      </dgm:prSet>
      <dgm:spPr/>
    </dgm:pt>
    <dgm:pt modelId="{44241204-E406-40F5-B060-D72449A541DB}" type="pres">
      <dgm:prSet presAssocID="{EF4A4961-D350-4D9E-911C-AD892D6EE9D1}" presName="sibTrans" presStyleCnt="0"/>
      <dgm:spPr/>
    </dgm:pt>
    <dgm:pt modelId="{7716F906-128E-41B0-9584-E0047E0C390F}" type="pres">
      <dgm:prSet presAssocID="{893C2AD1-EFAE-4141-B0C6-A92F5D1D5E66}" presName="compNode" presStyleCnt="0"/>
      <dgm:spPr/>
    </dgm:pt>
    <dgm:pt modelId="{D32AD70B-C892-4BA3-A26D-78642D779096}" type="pres">
      <dgm:prSet presAssocID="{893C2AD1-EFAE-4141-B0C6-A92F5D1D5E66}" presName="bgRect" presStyleLbl="bgShp" presStyleIdx="2" presStyleCnt="4"/>
      <dgm:spPr/>
    </dgm:pt>
    <dgm:pt modelId="{E558DF54-3518-4F46-8385-0852C6EE4A6F}" type="pres">
      <dgm:prSet presAssocID="{893C2AD1-EFAE-4141-B0C6-A92F5D1D5E6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3CB0408-B662-47E7-B40B-9D873DC1A8E8}" type="pres">
      <dgm:prSet presAssocID="{893C2AD1-EFAE-4141-B0C6-A92F5D1D5E66}" presName="spaceRect" presStyleCnt="0"/>
      <dgm:spPr/>
    </dgm:pt>
    <dgm:pt modelId="{B1B5FA26-D35F-4CBF-8542-37A45B8D69CF}" type="pres">
      <dgm:prSet presAssocID="{893C2AD1-EFAE-4141-B0C6-A92F5D1D5E66}" presName="parTx" presStyleLbl="revTx" presStyleIdx="2" presStyleCnt="4">
        <dgm:presLayoutVars>
          <dgm:chMax val="0"/>
          <dgm:chPref val="0"/>
        </dgm:presLayoutVars>
      </dgm:prSet>
      <dgm:spPr/>
    </dgm:pt>
    <dgm:pt modelId="{3156B6A1-D8C8-4BB7-8200-0037C1D888BB}" type="pres">
      <dgm:prSet presAssocID="{82FE305F-DDD8-4AE2-B001-A69BEB040627}" presName="sibTrans" presStyleCnt="0"/>
      <dgm:spPr/>
    </dgm:pt>
    <dgm:pt modelId="{93830676-3556-443E-BF41-7373A9F529D9}" type="pres">
      <dgm:prSet presAssocID="{5D0CAA5D-285A-4FCD-89DD-8ABC14C4D65F}" presName="compNode" presStyleCnt="0"/>
      <dgm:spPr/>
    </dgm:pt>
    <dgm:pt modelId="{3700A37F-254B-4F30-8E24-0664548885EC}" type="pres">
      <dgm:prSet presAssocID="{5D0CAA5D-285A-4FCD-89DD-8ABC14C4D65F}" presName="bgRect" presStyleLbl="bgShp" presStyleIdx="3" presStyleCnt="4"/>
      <dgm:spPr/>
    </dgm:pt>
    <dgm:pt modelId="{5A8C798C-2BE9-42AA-B310-505C4E236A02}" type="pres">
      <dgm:prSet presAssocID="{5D0CAA5D-285A-4FCD-89DD-8ABC14C4D65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D4D6AF2-28A2-4A59-8BCE-69F0CFCB6BB3}" type="pres">
      <dgm:prSet presAssocID="{5D0CAA5D-285A-4FCD-89DD-8ABC14C4D65F}" presName="spaceRect" presStyleCnt="0"/>
      <dgm:spPr/>
    </dgm:pt>
    <dgm:pt modelId="{4A953D5D-D735-47EA-9D65-8B534EE76FF8}" type="pres">
      <dgm:prSet presAssocID="{5D0CAA5D-285A-4FCD-89DD-8ABC14C4D65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F988808-00B4-4EFF-B40A-518CDC7AB345}" srcId="{1B71C032-352C-4D3A-8029-BCB4CA88D926}" destId="{893C2AD1-EFAE-4141-B0C6-A92F5D1D5E66}" srcOrd="2" destOrd="0" parTransId="{106A34AA-1B3F-465D-9A49-674CAD1EC8C2}" sibTransId="{82FE305F-DDD8-4AE2-B001-A69BEB040627}"/>
    <dgm:cxn modelId="{87F0EA08-7987-4F64-8991-84CAE0D3E87F}" type="presOf" srcId="{8DBB8042-2981-4495-B04A-77A45809DAF5}" destId="{59D9AC2E-E168-45F5-998B-B1F4D425D405}" srcOrd="0" destOrd="0" presId="urn:microsoft.com/office/officeart/2018/2/layout/IconVerticalSolidList"/>
    <dgm:cxn modelId="{91667F0C-8A31-4085-A5C5-45329C9065A3}" type="presOf" srcId="{0E610EBA-1151-4A00-B1B4-010CFD8527DB}" destId="{39FBEFA6-E55D-4A2A-8A93-82BDA9469EEB}" srcOrd="0" destOrd="0" presId="urn:microsoft.com/office/officeart/2018/2/layout/IconVerticalSolidList"/>
    <dgm:cxn modelId="{62D87F15-C114-4506-B424-92C0C6302D29}" type="presOf" srcId="{5D0CAA5D-285A-4FCD-89DD-8ABC14C4D65F}" destId="{4A953D5D-D735-47EA-9D65-8B534EE76FF8}" srcOrd="0" destOrd="0" presId="urn:microsoft.com/office/officeart/2018/2/layout/IconVerticalSolidList"/>
    <dgm:cxn modelId="{53E7F525-7FF4-48A9-B759-F7AF3330B119}" type="presOf" srcId="{893C2AD1-EFAE-4141-B0C6-A92F5D1D5E66}" destId="{B1B5FA26-D35F-4CBF-8542-37A45B8D69CF}" srcOrd="0" destOrd="0" presId="urn:microsoft.com/office/officeart/2018/2/layout/IconVerticalSolidList"/>
    <dgm:cxn modelId="{3C952553-5AB4-420C-A39B-3A9B1B0034EC}" srcId="{1B71C032-352C-4D3A-8029-BCB4CA88D926}" destId="{8DBB8042-2981-4495-B04A-77A45809DAF5}" srcOrd="0" destOrd="0" parTransId="{96385E1C-D73C-423F-800F-572201A7582B}" sibTransId="{639BE3F3-EE93-4A22-AB1D-ED8A407FA09E}"/>
    <dgm:cxn modelId="{9ADEE9A4-CED6-4B50-9D3D-3514100D9781}" type="presOf" srcId="{1B71C032-352C-4D3A-8029-BCB4CA88D926}" destId="{E59309F6-2B59-48C5-B4BC-2C42B03AA901}" srcOrd="0" destOrd="0" presId="urn:microsoft.com/office/officeart/2018/2/layout/IconVerticalSolidList"/>
    <dgm:cxn modelId="{6A3225BE-BCA2-43F9-921E-659A2E0B0CFE}" srcId="{1B71C032-352C-4D3A-8029-BCB4CA88D926}" destId="{5D0CAA5D-285A-4FCD-89DD-8ABC14C4D65F}" srcOrd="3" destOrd="0" parTransId="{307E1F6D-250C-4B9C-8FC5-1DC18A32083C}" sibTransId="{B9C42C99-8936-4F65-B12C-1BFA97036FEC}"/>
    <dgm:cxn modelId="{DF794BD3-1EF8-462A-B501-900B271A244C}" srcId="{1B71C032-352C-4D3A-8029-BCB4CA88D926}" destId="{0E610EBA-1151-4A00-B1B4-010CFD8527DB}" srcOrd="1" destOrd="0" parTransId="{7F290CD9-C58B-4955-877E-52CFC8CA3071}" sibTransId="{EF4A4961-D350-4D9E-911C-AD892D6EE9D1}"/>
    <dgm:cxn modelId="{EB8D8633-919C-4031-8555-00F1CE77E047}" type="presParOf" srcId="{E59309F6-2B59-48C5-B4BC-2C42B03AA901}" destId="{2D36ED89-9C69-48F5-BFB1-A3D69F1D5A43}" srcOrd="0" destOrd="0" presId="urn:microsoft.com/office/officeart/2018/2/layout/IconVerticalSolidList"/>
    <dgm:cxn modelId="{C62EBD83-88EA-43A0-B93B-0DFB088E37C5}" type="presParOf" srcId="{2D36ED89-9C69-48F5-BFB1-A3D69F1D5A43}" destId="{4FA9D6C8-F3FC-4F49-BA29-78615CDBEEEF}" srcOrd="0" destOrd="0" presId="urn:microsoft.com/office/officeart/2018/2/layout/IconVerticalSolidList"/>
    <dgm:cxn modelId="{AFC10DDB-7A89-4ABB-9FEE-9F3F13760DAC}" type="presParOf" srcId="{2D36ED89-9C69-48F5-BFB1-A3D69F1D5A43}" destId="{35913A03-5226-4928-B030-75CF06D93861}" srcOrd="1" destOrd="0" presId="urn:microsoft.com/office/officeart/2018/2/layout/IconVerticalSolidList"/>
    <dgm:cxn modelId="{2CDBF11B-434F-488F-BFB8-443030DEF386}" type="presParOf" srcId="{2D36ED89-9C69-48F5-BFB1-A3D69F1D5A43}" destId="{5E050915-4107-4B39-A1A0-8FE0E84E6F01}" srcOrd="2" destOrd="0" presId="urn:microsoft.com/office/officeart/2018/2/layout/IconVerticalSolidList"/>
    <dgm:cxn modelId="{1F8DB9AD-CBB8-407F-987C-28261F285889}" type="presParOf" srcId="{2D36ED89-9C69-48F5-BFB1-A3D69F1D5A43}" destId="{59D9AC2E-E168-45F5-998B-B1F4D425D405}" srcOrd="3" destOrd="0" presId="urn:microsoft.com/office/officeart/2018/2/layout/IconVerticalSolidList"/>
    <dgm:cxn modelId="{55CA89C5-8956-436C-AEE5-9686C64D9F66}" type="presParOf" srcId="{E59309F6-2B59-48C5-B4BC-2C42B03AA901}" destId="{B47E8BD6-D2BA-41BE-A151-4126E2327ED7}" srcOrd="1" destOrd="0" presId="urn:microsoft.com/office/officeart/2018/2/layout/IconVerticalSolidList"/>
    <dgm:cxn modelId="{A73E4FF8-CAE0-4F0A-9875-7781C30AB9B4}" type="presParOf" srcId="{E59309F6-2B59-48C5-B4BC-2C42B03AA901}" destId="{083EA821-E94D-40E0-AF7B-317EB89FDDF5}" srcOrd="2" destOrd="0" presId="urn:microsoft.com/office/officeart/2018/2/layout/IconVerticalSolidList"/>
    <dgm:cxn modelId="{424B27B3-16C8-4693-955F-71226D1C545D}" type="presParOf" srcId="{083EA821-E94D-40E0-AF7B-317EB89FDDF5}" destId="{CC160C70-D81D-4751-BB3B-762BD60F9501}" srcOrd="0" destOrd="0" presId="urn:microsoft.com/office/officeart/2018/2/layout/IconVerticalSolidList"/>
    <dgm:cxn modelId="{4565E500-01F5-4F8D-9957-61753FEA1EEF}" type="presParOf" srcId="{083EA821-E94D-40E0-AF7B-317EB89FDDF5}" destId="{FBA8FC5F-9F00-4C9A-99B5-170D6CBF4EF5}" srcOrd="1" destOrd="0" presId="urn:microsoft.com/office/officeart/2018/2/layout/IconVerticalSolidList"/>
    <dgm:cxn modelId="{F783A0B7-E246-46F2-A95B-811FE8FF2F34}" type="presParOf" srcId="{083EA821-E94D-40E0-AF7B-317EB89FDDF5}" destId="{4F2FE33D-59E0-4FB3-901C-86ED9C77CF4A}" srcOrd="2" destOrd="0" presId="urn:microsoft.com/office/officeart/2018/2/layout/IconVerticalSolidList"/>
    <dgm:cxn modelId="{2F1803F1-52E4-4F42-80C6-5D5C209E5CDA}" type="presParOf" srcId="{083EA821-E94D-40E0-AF7B-317EB89FDDF5}" destId="{39FBEFA6-E55D-4A2A-8A93-82BDA9469EEB}" srcOrd="3" destOrd="0" presId="urn:microsoft.com/office/officeart/2018/2/layout/IconVerticalSolidList"/>
    <dgm:cxn modelId="{C02F5B20-DDE3-4A9A-A763-017FCC585F9F}" type="presParOf" srcId="{E59309F6-2B59-48C5-B4BC-2C42B03AA901}" destId="{44241204-E406-40F5-B060-D72449A541DB}" srcOrd="3" destOrd="0" presId="urn:microsoft.com/office/officeart/2018/2/layout/IconVerticalSolidList"/>
    <dgm:cxn modelId="{7C32AAA0-D8DD-4F9D-801E-9BAB3DDB0343}" type="presParOf" srcId="{E59309F6-2B59-48C5-B4BC-2C42B03AA901}" destId="{7716F906-128E-41B0-9584-E0047E0C390F}" srcOrd="4" destOrd="0" presId="urn:microsoft.com/office/officeart/2018/2/layout/IconVerticalSolidList"/>
    <dgm:cxn modelId="{78E597CE-109E-4009-ABD8-9BA34CF9B372}" type="presParOf" srcId="{7716F906-128E-41B0-9584-E0047E0C390F}" destId="{D32AD70B-C892-4BA3-A26D-78642D779096}" srcOrd="0" destOrd="0" presId="urn:microsoft.com/office/officeart/2018/2/layout/IconVerticalSolidList"/>
    <dgm:cxn modelId="{1790219F-3BAB-49EC-BEDD-7DD25963AADE}" type="presParOf" srcId="{7716F906-128E-41B0-9584-E0047E0C390F}" destId="{E558DF54-3518-4F46-8385-0852C6EE4A6F}" srcOrd="1" destOrd="0" presId="urn:microsoft.com/office/officeart/2018/2/layout/IconVerticalSolidList"/>
    <dgm:cxn modelId="{C2DD33DC-5745-4BF4-B756-9F2EB82F0CDF}" type="presParOf" srcId="{7716F906-128E-41B0-9584-E0047E0C390F}" destId="{73CB0408-B662-47E7-B40B-9D873DC1A8E8}" srcOrd="2" destOrd="0" presId="urn:microsoft.com/office/officeart/2018/2/layout/IconVerticalSolidList"/>
    <dgm:cxn modelId="{A31BB543-340D-49EA-94FF-D6E2AEB30E65}" type="presParOf" srcId="{7716F906-128E-41B0-9584-E0047E0C390F}" destId="{B1B5FA26-D35F-4CBF-8542-37A45B8D69CF}" srcOrd="3" destOrd="0" presId="urn:microsoft.com/office/officeart/2018/2/layout/IconVerticalSolidList"/>
    <dgm:cxn modelId="{32C141FF-5BF3-4AC4-B4A1-677AD7FE5650}" type="presParOf" srcId="{E59309F6-2B59-48C5-B4BC-2C42B03AA901}" destId="{3156B6A1-D8C8-4BB7-8200-0037C1D888BB}" srcOrd="5" destOrd="0" presId="urn:microsoft.com/office/officeart/2018/2/layout/IconVerticalSolidList"/>
    <dgm:cxn modelId="{D5E4DD76-569D-4A13-908C-BCDCEA806EEF}" type="presParOf" srcId="{E59309F6-2B59-48C5-B4BC-2C42B03AA901}" destId="{93830676-3556-443E-BF41-7373A9F529D9}" srcOrd="6" destOrd="0" presId="urn:microsoft.com/office/officeart/2018/2/layout/IconVerticalSolidList"/>
    <dgm:cxn modelId="{4D9D0898-42BC-46C6-B2DD-EA63858A0E6C}" type="presParOf" srcId="{93830676-3556-443E-BF41-7373A9F529D9}" destId="{3700A37F-254B-4F30-8E24-0664548885EC}" srcOrd="0" destOrd="0" presId="urn:microsoft.com/office/officeart/2018/2/layout/IconVerticalSolidList"/>
    <dgm:cxn modelId="{86A9285C-9921-4D2A-8873-A243DA384CBD}" type="presParOf" srcId="{93830676-3556-443E-BF41-7373A9F529D9}" destId="{5A8C798C-2BE9-42AA-B310-505C4E236A02}" srcOrd="1" destOrd="0" presId="urn:microsoft.com/office/officeart/2018/2/layout/IconVerticalSolidList"/>
    <dgm:cxn modelId="{B8F36C5B-9D3F-4A3B-9145-ADA5E21F7738}" type="presParOf" srcId="{93830676-3556-443E-BF41-7373A9F529D9}" destId="{FD4D6AF2-28A2-4A59-8BCE-69F0CFCB6BB3}" srcOrd="2" destOrd="0" presId="urn:microsoft.com/office/officeart/2018/2/layout/IconVerticalSolidList"/>
    <dgm:cxn modelId="{AF2D3A95-D8C6-45AC-A4BF-437085411572}" type="presParOf" srcId="{93830676-3556-443E-BF41-7373A9F529D9}" destId="{4A953D5D-D735-47EA-9D65-8B534EE76F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92201-4DD5-47BC-BC6B-DA6534BE97E5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8DFDB-C8D5-4BF9-B439-7BC7E3E4047E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B7DF8C-205F-43B6-8FAE-BF45558F26AE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 analytics</a:t>
          </a:r>
          <a:r>
            <a:rPr lang="en-US" sz="2300" b="1" i="1" kern="1200"/>
            <a:t> </a:t>
          </a:r>
          <a:r>
            <a:rPr lang="en-US" sz="2300" kern="1200"/>
            <a:t>is an important field that involves the process of </a:t>
          </a:r>
          <a:r>
            <a:rPr lang="en-US" sz="2300" b="1" kern="1200"/>
            <a:t>collecting</a:t>
          </a:r>
          <a:r>
            <a:rPr lang="en-US" sz="2300" kern="1200"/>
            <a:t>, </a:t>
          </a:r>
          <a:r>
            <a:rPr lang="en-US" sz="2300" b="1" kern="1200"/>
            <a:t>processing</a:t>
          </a:r>
          <a:r>
            <a:rPr lang="en-US" sz="2300" kern="1200"/>
            <a:t>, and </a:t>
          </a:r>
          <a:r>
            <a:rPr lang="en-US" sz="2300" b="1" kern="1200"/>
            <a:t>interpreting</a:t>
          </a:r>
          <a:r>
            <a:rPr lang="en-US" sz="2300" kern="1200"/>
            <a:t> data to uncover </a:t>
          </a:r>
          <a:r>
            <a:rPr lang="en-US" sz="2300" b="1" kern="1200"/>
            <a:t>insights</a:t>
          </a:r>
          <a:r>
            <a:rPr lang="en-US" sz="2300" kern="1200"/>
            <a:t> and help in </a:t>
          </a:r>
          <a:r>
            <a:rPr lang="en-US" sz="2300" b="1" kern="1200"/>
            <a:t>making decisions</a:t>
          </a:r>
          <a:r>
            <a:rPr lang="en-US" sz="2300" kern="1200"/>
            <a:t>. </a:t>
          </a:r>
        </a:p>
      </dsp:txBody>
      <dsp:txXfrm>
        <a:off x="1437631" y="531"/>
        <a:ext cx="9077968" cy="1244702"/>
      </dsp:txXfrm>
    </dsp:sp>
    <dsp:sp modelId="{477C2B78-B8CB-4540-8AB5-769325BF69A0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5B935-90EF-4BE7-9897-0BAAC1CB2A18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AF3CC1-23FB-4402-88D9-B32AB9C65899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 analytics is the practice of examining raw data to </a:t>
          </a:r>
          <a:r>
            <a:rPr lang="en-US" sz="2300" b="1" kern="1200"/>
            <a:t>identify trends</a:t>
          </a:r>
          <a:r>
            <a:rPr lang="en-US" sz="2300" kern="1200"/>
            <a:t>, </a:t>
          </a:r>
          <a:r>
            <a:rPr lang="en-US" sz="2300" b="1" kern="1200"/>
            <a:t>draw conclusions</a:t>
          </a:r>
          <a:r>
            <a:rPr lang="en-US" sz="2300" kern="1200"/>
            <a:t>, and </a:t>
          </a:r>
          <a:r>
            <a:rPr lang="en-US" sz="2300" b="1" kern="1200"/>
            <a:t>extract meaningful information</a:t>
          </a:r>
          <a:r>
            <a:rPr lang="en-US" sz="2300" kern="1200"/>
            <a:t>. </a:t>
          </a:r>
        </a:p>
      </dsp:txBody>
      <dsp:txXfrm>
        <a:off x="1437631" y="1556410"/>
        <a:ext cx="9077968" cy="1244702"/>
      </dsp:txXfrm>
    </dsp:sp>
    <dsp:sp modelId="{C91943FE-BBCC-46C2-B9E6-2179B7D57453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423DA3-EDBD-4094-9BA5-D99C03022FCD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3074A-4163-4617-B9DB-4C33E5AB798E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involves various techniques and tools to process and transform data into valuable insights that can be used for decision-making.</a:t>
          </a:r>
        </a:p>
      </dsp:txBody>
      <dsp:txXfrm>
        <a:off x="1437631" y="3112289"/>
        <a:ext cx="90779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4D2D1F-D2E8-4909-A233-2A11BB72F251}">
      <dsp:nvSpPr>
        <dsp:cNvPr id="0" name=""/>
        <dsp:cNvSpPr/>
      </dsp:nvSpPr>
      <dsp:spPr>
        <a:xfrm>
          <a:off x="1684291" y="347245"/>
          <a:ext cx="4998908" cy="4998908"/>
        </a:xfrm>
        <a:prstGeom prst="pie">
          <a:avLst>
            <a:gd name="adj1" fmla="val 16200000"/>
            <a:gd name="adj2" fmla="val 19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Data Collection </a:t>
          </a:r>
          <a:r>
            <a:rPr lang="en-US" sz="1100" kern="1200"/>
            <a:t>(20%, Gathering relevant data is critical to ensure meaningful analysis.) </a:t>
          </a:r>
        </a:p>
      </dsp:txBody>
      <dsp:txXfrm>
        <a:off x="4237305" y="882842"/>
        <a:ext cx="1458014" cy="1071194"/>
      </dsp:txXfrm>
    </dsp:sp>
    <dsp:sp modelId="{E27F0816-779C-43E3-9094-A718B143C923}">
      <dsp:nvSpPr>
        <dsp:cNvPr id="0" name=""/>
        <dsp:cNvSpPr/>
      </dsp:nvSpPr>
      <dsp:spPr>
        <a:xfrm>
          <a:off x="1535514" y="604927"/>
          <a:ext cx="4998908" cy="4998908"/>
        </a:xfrm>
        <a:prstGeom prst="pie">
          <a:avLst>
            <a:gd name="adj1" fmla="val 198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Cleaning</a:t>
          </a:r>
          <a:r>
            <a:rPr lang="en-US" sz="1100" kern="1200"/>
            <a:t> (25%, Most effort is spent here; ensures data quality by handling errors, duplicates, missing values.) </a:t>
          </a:r>
        </a:p>
      </dsp:txBody>
      <dsp:txXfrm>
        <a:off x="4957386" y="2598539"/>
        <a:ext cx="1511574" cy="1011683"/>
      </dsp:txXfrm>
    </dsp:sp>
    <dsp:sp modelId="{A059B2E9-7A5B-46A8-B8C7-482EB1B82E8C}">
      <dsp:nvSpPr>
        <dsp:cNvPr id="0" name=""/>
        <dsp:cNvSpPr/>
      </dsp:nvSpPr>
      <dsp:spPr>
        <a:xfrm>
          <a:off x="1535514" y="604927"/>
          <a:ext cx="4998908" cy="4998908"/>
        </a:xfrm>
        <a:prstGeom prst="pie">
          <a:avLst>
            <a:gd name="adj1" fmla="val 1800000"/>
            <a:gd name="adj2" fmla="val 54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Exploration</a:t>
          </a:r>
          <a:r>
            <a:rPr lang="en-US" sz="1100" kern="1200"/>
            <a:t> (15%, </a:t>
          </a:r>
          <a:r>
            <a:rPr lang="en-NZ" sz="1100" kern="1200"/>
            <a:t>Understand patterns, trends, and anomalies; drives hypothesis formation.</a:t>
          </a:r>
          <a:r>
            <a:rPr lang="en-US" sz="1100" kern="1200"/>
            <a:t>)</a:t>
          </a:r>
        </a:p>
      </dsp:txBody>
      <dsp:txXfrm>
        <a:off x="4088528" y="3997043"/>
        <a:ext cx="1458014" cy="1071194"/>
      </dsp:txXfrm>
    </dsp:sp>
    <dsp:sp modelId="{834006AE-3934-46B2-BBC0-6A24F18ADF53}">
      <dsp:nvSpPr>
        <dsp:cNvPr id="0" name=""/>
        <dsp:cNvSpPr/>
      </dsp:nvSpPr>
      <dsp:spPr>
        <a:xfrm>
          <a:off x="1535514" y="604927"/>
          <a:ext cx="4998908" cy="4998908"/>
        </a:xfrm>
        <a:prstGeom prst="pie">
          <a:avLst>
            <a:gd name="adj1" fmla="val 54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Modeling</a:t>
          </a:r>
          <a:r>
            <a:rPr lang="en-US" sz="1100" kern="1200"/>
            <a:t> (15%, Develop predictive or descriptive models based on cleaned, explored data.) </a:t>
          </a:r>
        </a:p>
      </dsp:txBody>
      <dsp:txXfrm>
        <a:off x="2523393" y="3997043"/>
        <a:ext cx="1458014" cy="1071194"/>
      </dsp:txXfrm>
    </dsp:sp>
    <dsp:sp modelId="{B83D5B0E-0E39-4D92-8EC9-368779B237CE}">
      <dsp:nvSpPr>
        <dsp:cNvPr id="0" name=""/>
        <dsp:cNvSpPr/>
      </dsp:nvSpPr>
      <dsp:spPr>
        <a:xfrm>
          <a:off x="1535514" y="604927"/>
          <a:ext cx="4998908" cy="4998908"/>
        </a:xfrm>
        <a:prstGeom prst="pie">
          <a:avLst>
            <a:gd name="adj1" fmla="val 9000000"/>
            <a:gd name="adj2" fmla="val 126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Visualization</a:t>
          </a:r>
          <a:r>
            <a:rPr lang="en-US" sz="1100" kern="1200"/>
            <a:t> (10%, Communicate insights effectively through charts, graphs, and dashboards.) </a:t>
          </a:r>
        </a:p>
      </dsp:txBody>
      <dsp:txXfrm>
        <a:off x="1612878" y="2598539"/>
        <a:ext cx="1511574" cy="1011683"/>
      </dsp:txXfrm>
    </dsp:sp>
    <dsp:sp modelId="{45DA9F9E-962D-4C29-A474-A269CCF570A8}">
      <dsp:nvSpPr>
        <dsp:cNvPr id="0" name=""/>
        <dsp:cNvSpPr/>
      </dsp:nvSpPr>
      <dsp:spPr>
        <a:xfrm>
          <a:off x="1535514" y="604927"/>
          <a:ext cx="4998908" cy="4998908"/>
        </a:xfrm>
        <a:prstGeom prst="pie">
          <a:avLst>
            <a:gd name="adj1" fmla="val 126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Actionable Insights </a:t>
          </a:r>
          <a:r>
            <a:rPr lang="en-US" sz="1100" kern="1200"/>
            <a:t>(15%, Translate analysis into decisions or strategic actions.)</a:t>
          </a:r>
        </a:p>
      </dsp:txBody>
      <dsp:txXfrm>
        <a:off x="2523393" y="1140524"/>
        <a:ext cx="1458014" cy="10711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A9D6C8-F3FC-4F49-BA29-78615CDBEEEF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13A03-5226-4928-B030-75CF06D93861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D9AC2E-E168-45F5-998B-B1F4D425D405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Data Analytics</a:t>
          </a:r>
          <a:r>
            <a:rPr lang="en-US" sz="2200" b="0" i="0" kern="1200" baseline="0"/>
            <a:t> is central to digital transformation, turning raw data into actionable insights for smarter decision-making.</a:t>
          </a:r>
          <a:endParaRPr lang="en-US" sz="2200" kern="1200"/>
        </a:p>
      </dsp:txBody>
      <dsp:txXfrm>
        <a:off x="1058686" y="1808"/>
        <a:ext cx="9456913" cy="916611"/>
      </dsp:txXfrm>
    </dsp:sp>
    <dsp:sp modelId="{CC160C70-D81D-4751-BB3B-762BD60F9501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A8FC5F-9F00-4C9A-99B5-170D6CBF4EF5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BEFA6-E55D-4A2A-8A93-82BDA9469EEB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Key Roles</a:t>
          </a:r>
          <a:r>
            <a:rPr lang="en-US" sz="2200" b="0" i="0" kern="1200" baseline="0"/>
            <a:t>: Identifying patterns, predicting outcomes, and recommending actions across industries like healthcare, retail, and agriculture.</a:t>
          </a:r>
          <a:endParaRPr lang="en-US" sz="2200" kern="1200"/>
        </a:p>
      </dsp:txBody>
      <dsp:txXfrm>
        <a:off x="1058686" y="1147573"/>
        <a:ext cx="9456913" cy="916611"/>
      </dsp:txXfrm>
    </dsp:sp>
    <dsp:sp modelId="{D32AD70B-C892-4BA3-A26D-78642D779096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58DF54-3518-4F46-8385-0852C6EE4A6F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5FA26-D35F-4CBF-8542-37A45B8D69CF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Challenges</a:t>
          </a:r>
          <a:r>
            <a:rPr lang="en-US" sz="2200" b="0" i="0" kern="1200" baseline="0"/>
            <a:t>: Data privacy, quality issues, integration, and real-time processing remain key obstacles.</a:t>
          </a:r>
          <a:endParaRPr lang="en-US" sz="2200" kern="1200"/>
        </a:p>
      </dsp:txBody>
      <dsp:txXfrm>
        <a:off x="1058686" y="2293338"/>
        <a:ext cx="9456913" cy="916611"/>
      </dsp:txXfrm>
    </dsp:sp>
    <dsp:sp modelId="{3700A37F-254B-4F30-8E24-0664548885EC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8C798C-2BE9-42AA-B310-505C4E236A02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53D5D-D735-47EA-9D65-8B534EE76FF8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The Future</a:t>
          </a:r>
          <a:r>
            <a:rPr lang="en-US" sz="2200" b="0" i="0" kern="1200" baseline="0"/>
            <a:t>: Mastering data analytics tools and techniques positions you to thrive in a data-driven world, empowering innovation and informed decisions.</a:t>
          </a:r>
          <a:endParaRPr lang="en-US" sz="2200" kern="1200"/>
        </a:p>
      </dsp:txBody>
      <dsp:txXfrm>
        <a:off x="1058686" y="3439103"/>
        <a:ext cx="94569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BD9E9-B7FA-4808-A6B9-63970A1C3A0D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82EAC-3AF1-464C-B380-744CD9744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1071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EAC-3AF1-464C-B380-744CD9744411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49768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EAC-3AF1-464C-B380-744CD9744411}" type="slidenum">
              <a:rPr lang="en-NZ" smtClean="0"/>
              <a:t>7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00581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EAC-3AF1-464C-B380-744CD9744411}" type="slidenum">
              <a:rPr lang="en-NZ" smtClean="0"/>
              <a:t>8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5603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EAC-3AF1-464C-B380-744CD9744411}" type="slidenum">
              <a:rPr lang="en-NZ" smtClean="0"/>
              <a:t>9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77842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E279-F6A3-1969-2DD8-6FA575711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2D4F6-9F24-8239-72BC-79985C816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2F096-8B30-9807-51B3-515FEBFB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0F06F-583C-7ACF-C166-EC2A6BF5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428F8-BCF8-AE11-EB44-AC785361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04918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FEE2F-B5B5-78FA-09EB-417F7D3D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98829-A52B-1CCF-9B6B-5B5141559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918AC-176B-E589-D0CA-4E859393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7461D-78CB-3A07-963D-C5760A769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B5863-82C4-174C-0E48-567BE8733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7903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F957-D835-9D0D-F436-0CF9E9112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C0BA5-03C2-B217-E1AA-3923E85A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0B233-0AE6-48D6-CBB6-C0DE9171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6E4A7-34C2-B434-64E7-E8761364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1DC8-AF94-16BD-DA41-27ADC118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4934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D67E-C2BB-74AF-C9FD-9D3B9AED6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08E5-B801-AFF8-CD2D-34B257B00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35428-D654-47EE-C729-71FFED5D3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67086-A022-10DC-0F44-B14D2002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7D071-1699-DD52-AD9A-039A982A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7F532-02F7-BDC4-152E-0308C43B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8901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1101-2498-E4C3-8CAB-507C07DE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B6FA5-DFF1-DB84-27A3-89D013A72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AD450-899B-329F-9E36-F48907427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A461C-1979-2115-B5E1-284608D12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1C393-7585-1456-1A68-B5F53870E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C1C97-D380-B9CD-8FD6-1134291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2604ED-7514-9C5A-B4DF-51C4A7BED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632937-EF02-04EE-690A-84CC0DF5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78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D1F0-0B26-F921-8B94-9DC2FC20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99EC1-7B83-D216-D827-E447CB63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9DCC1-5CCF-F8E9-6B70-1F355E245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7AB20-0D4E-FB92-9144-803F8C43B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37760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F0B127-F877-9780-A067-092B591B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4A710-B1BD-C1DD-1F83-DF9206AF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595AD-9C6E-1156-E6AF-0852FCA9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1696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5F421-1CCE-DC6E-65DD-961D9D5F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E26FD-9BB8-3168-D5C5-D99922829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AFF20-AC11-B49F-25A6-E9AC4D70E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E0598-6B79-033F-BBCA-E3E46BDF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8967B-4382-EC02-E1B0-168D4A3D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AFBB4-204A-F9EB-52C9-173DD77EA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43720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D7FFA-1332-A1B2-1815-3142F91E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3CF70-9B43-517C-913A-C9F74A7AA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AA06A-B620-A86A-71B4-B747F1C7F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E4D3E-9333-0BA6-999C-4D16A63F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9B9D1-33EA-ECB3-5C01-6F8CEB945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75939-327F-12E6-96CE-FB15FBEA1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56568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97DD3-3342-8B1A-650A-3309B7BC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6410F-216F-7B98-E3C2-C51117F35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DF9FE-8DC9-11C2-A2FE-7B77C4D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1C404-3052-F9B9-4AB2-2AFD795A3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61AC7-91B5-E537-CC8A-706AF47F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7169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363D58-55F5-A771-A36B-D861942DB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EDACF-BE29-40A6-F0A4-584E838BD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BA8B2-90C7-3699-FF4E-C0F324A7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3DB84-BA1B-DDFE-C940-16A4DDFD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D918A-373A-64DB-2A11-39183828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3674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27D42-C3BF-08F8-4B02-98F17283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1F36F-A518-1F03-E7A2-17BEE2B4F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9F395-49A4-99AD-4B60-AF13A3146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2B7FE-FD57-4325-9B69-4F04281F2889}" type="datetimeFigureOut">
              <a:rPr lang="en-NZ" smtClean="0"/>
              <a:t>30/03/2026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7D0F-DF78-B7DC-C051-DAF25EC81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36481-3ED4-5D01-ABB6-98260C77B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95609-B2F3-49C0-AE52-4A7E71C8DE0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1434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443F5-9194-735F-B0B1-85FE1FB79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3" y="1590840"/>
            <a:ext cx="6268369" cy="5095221"/>
          </a:xfrm>
        </p:spPr>
        <p:txBody>
          <a:bodyPr>
            <a:normAutofit/>
          </a:bodyPr>
          <a:lstStyle/>
          <a:p>
            <a:pPr algn="l"/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400" b="1" u="sng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Outcomes:</a:t>
            </a:r>
          </a:p>
          <a:p>
            <a:pPr algn="l"/>
            <a:endParaRPr lang="en-US"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lphaLcParenR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what data analytics is and its role in decision making.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Distinguish between types of data analytics.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 key tools and technologies used in data analytics.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 real-world applications and challenges. </a:t>
            </a:r>
          </a:p>
          <a:p>
            <a:pPr algn="l"/>
            <a:endParaRPr lang="en-US" sz="14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Z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Yoobee Colleges</a:t>
            </a:r>
          </a:p>
          <a:p>
            <a:pPr algn="l"/>
            <a:endParaRPr lang="en-NZ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2">
            <a:extLst>
              <a:ext uri="{FF2B5EF4-FFF2-40B4-BE49-F238E27FC236}">
                <a16:creationId xmlns:a16="http://schemas.microsoft.com/office/drawing/2014/main" id="{33AFFE9C-B1CF-EA34-3C1B-C35BAD48D013}"/>
              </a:ext>
            </a:extLst>
          </p:cNvPr>
          <p:cNvSpPr txBox="1">
            <a:spLocks/>
          </p:cNvSpPr>
          <p:nvPr/>
        </p:nvSpPr>
        <p:spPr>
          <a:xfrm>
            <a:off x="2329543" y="4648200"/>
            <a:ext cx="7543800" cy="1208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86C11B-78C8-264C-FD6F-5FD084D08A2A}"/>
              </a:ext>
            </a:extLst>
          </p:cNvPr>
          <p:cNvSpPr txBox="1"/>
          <p:nvPr/>
        </p:nvSpPr>
        <p:spPr>
          <a:xfrm>
            <a:off x="446314" y="3124199"/>
            <a:ext cx="4190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to Data Analytics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5829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69EDC-63BB-2810-07F7-7901EB20F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analytics</a:t>
            </a:r>
            <a:endParaRPr lang="en-N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B5DEDB-1384-598F-7679-2D4E3BA74C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3314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7735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50765-B89E-C01C-6C3F-F29CF9E96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B0CCE-D99D-051D-7E56-8FAD4E03D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Analytics vs Data Science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6F0D96C-85C7-D07C-4C04-7150D9F92A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225747"/>
              </p:ext>
            </p:extLst>
          </p:nvPr>
        </p:nvGraphicFramePr>
        <p:xfrm>
          <a:off x="429222" y="2633472"/>
          <a:ext cx="11330508" cy="358635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45923">
                  <a:extLst>
                    <a:ext uri="{9D8B030D-6E8A-4147-A177-3AD203B41FA5}">
                      <a16:colId xmlns:a16="http://schemas.microsoft.com/office/drawing/2014/main" val="146275901"/>
                    </a:ext>
                  </a:extLst>
                </a:gridCol>
                <a:gridCol w="4236626">
                  <a:extLst>
                    <a:ext uri="{9D8B030D-6E8A-4147-A177-3AD203B41FA5}">
                      <a16:colId xmlns:a16="http://schemas.microsoft.com/office/drawing/2014/main" val="191034723"/>
                    </a:ext>
                  </a:extLst>
                </a:gridCol>
                <a:gridCol w="5547959">
                  <a:extLst>
                    <a:ext uri="{9D8B030D-6E8A-4147-A177-3AD203B41FA5}">
                      <a16:colId xmlns:a16="http://schemas.microsoft.com/office/drawing/2014/main" val="884963972"/>
                    </a:ext>
                  </a:extLst>
                </a:gridCol>
              </a:tblGrid>
              <a:tr h="532042">
                <a:tc>
                  <a:txBody>
                    <a:bodyPr/>
                    <a:lstStyle/>
                    <a:p>
                      <a:r>
                        <a:rPr lang="en-US" sz="2600">
                          <a:solidFill>
                            <a:schemeClr val="tx1"/>
                          </a:solidFill>
                        </a:rPr>
                        <a:t>S.No</a:t>
                      </a:r>
                      <a:endParaRPr lang="en-NZ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solidFill>
                            <a:schemeClr val="tx1"/>
                          </a:solidFill>
                        </a:rPr>
                        <a:t>Data Analytics</a:t>
                      </a:r>
                      <a:endParaRPr lang="en-NZ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>
                          <a:solidFill>
                            <a:schemeClr val="tx1"/>
                          </a:solidFill>
                        </a:rPr>
                        <a:t>Data Science</a:t>
                      </a:r>
                      <a:endParaRPr lang="en-NZ" sz="2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extLst>
                  <a:ext uri="{0D108BD9-81ED-4DB2-BD59-A6C34878D82A}">
                    <a16:rowId xmlns:a16="http://schemas.microsoft.com/office/drawing/2014/main" val="1823515809"/>
                  </a:ext>
                </a:extLst>
              </a:tr>
              <a:tr h="532042">
                <a:tc>
                  <a:txBody>
                    <a:bodyPr/>
                    <a:lstStyle/>
                    <a:p>
                      <a:r>
                        <a:rPr lang="en-US" sz="2600"/>
                        <a:t>a) 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Data Analyst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Data Scientist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extLst>
                  <a:ext uri="{0D108BD9-81ED-4DB2-BD59-A6C34878D82A}">
                    <a16:rowId xmlns:a16="http://schemas.microsoft.com/office/drawing/2014/main" val="1144928769"/>
                  </a:ext>
                </a:extLst>
              </a:tr>
              <a:tr h="926147">
                <a:tc>
                  <a:txBody>
                    <a:bodyPr/>
                    <a:lstStyle/>
                    <a:p>
                      <a:r>
                        <a:rPr lang="en-US" sz="2600"/>
                        <a:t>b) 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Higher level tools (Excel, Tableau, PowerBI, etc.)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Lower-level tools (Programming Languages, Database systems)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extLst>
                  <a:ext uri="{0D108BD9-81ED-4DB2-BD59-A6C34878D82A}">
                    <a16:rowId xmlns:a16="http://schemas.microsoft.com/office/drawing/2014/main" val="2956248568"/>
                  </a:ext>
                </a:extLst>
              </a:tr>
              <a:tr h="532042">
                <a:tc>
                  <a:txBody>
                    <a:bodyPr/>
                    <a:lstStyle/>
                    <a:p>
                      <a:r>
                        <a:rPr lang="en-US" sz="2600"/>
                        <a:t>c) 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Skills of tools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Knoweledge of theories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extLst>
                  <a:ext uri="{0D108BD9-81ED-4DB2-BD59-A6C34878D82A}">
                    <a16:rowId xmlns:a16="http://schemas.microsoft.com/office/drawing/2014/main" val="1061659445"/>
                  </a:ext>
                </a:extLst>
              </a:tr>
              <a:tr h="532042">
                <a:tc>
                  <a:txBody>
                    <a:bodyPr/>
                    <a:lstStyle/>
                    <a:p>
                      <a:r>
                        <a:rPr lang="en-US" sz="2600"/>
                        <a:t>d) 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Medium level of statistics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High level of statistics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extLst>
                  <a:ext uri="{0D108BD9-81ED-4DB2-BD59-A6C34878D82A}">
                    <a16:rowId xmlns:a16="http://schemas.microsoft.com/office/drawing/2014/main" val="82682690"/>
                  </a:ext>
                </a:extLst>
              </a:tr>
              <a:tr h="532042">
                <a:tc>
                  <a:txBody>
                    <a:bodyPr/>
                    <a:lstStyle/>
                    <a:p>
                      <a:r>
                        <a:rPr lang="en-US" sz="2600"/>
                        <a:t>e) 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Well-paid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Higher-paid</a:t>
                      </a:r>
                      <a:endParaRPr lang="en-NZ" sz="2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526" marR="98526" marT="49263" marB="49263"/>
                </a:tc>
                <a:extLst>
                  <a:ext uri="{0D108BD9-81ED-4DB2-BD59-A6C34878D82A}">
                    <a16:rowId xmlns:a16="http://schemas.microsoft.com/office/drawing/2014/main" val="1837803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55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29BD8-E698-A43F-43BB-970F82498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Analytics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650F1-4955-F72E-B47E-0AB819767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85;p16">
            <a:extLst>
              <a:ext uri="{FF2B5EF4-FFF2-40B4-BE49-F238E27FC236}">
                <a16:creationId xmlns:a16="http://schemas.microsoft.com/office/drawing/2014/main" id="{D5C23E01-6352-6033-C78C-068B7E3EC3A9}"/>
              </a:ext>
            </a:extLst>
          </p:cNvPr>
          <p:cNvSpPr/>
          <p:nvPr/>
        </p:nvSpPr>
        <p:spPr>
          <a:xfrm>
            <a:off x="1818208" y="2214379"/>
            <a:ext cx="1794300" cy="635449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Descriptive Analytics</a:t>
            </a:r>
            <a:endParaRPr sz="16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7" name="Google Shape;86;p16">
            <a:extLst>
              <a:ext uri="{FF2B5EF4-FFF2-40B4-BE49-F238E27FC236}">
                <a16:creationId xmlns:a16="http://schemas.microsoft.com/office/drawing/2014/main" id="{014980E5-3DA1-94AE-5830-0FE9921EB55C}"/>
              </a:ext>
            </a:extLst>
          </p:cNvPr>
          <p:cNvSpPr/>
          <p:nvPr/>
        </p:nvSpPr>
        <p:spPr>
          <a:xfrm>
            <a:off x="3413458" y="2214391"/>
            <a:ext cx="1794300" cy="635437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Diagnostic</a:t>
            </a:r>
            <a:endParaRPr sz="16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Analytics</a:t>
            </a:r>
            <a:endParaRPr sz="16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9" name="Google Shape;87;p16">
            <a:extLst>
              <a:ext uri="{FF2B5EF4-FFF2-40B4-BE49-F238E27FC236}">
                <a16:creationId xmlns:a16="http://schemas.microsoft.com/office/drawing/2014/main" id="{2AF0235F-3FE9-6E57-D3B6-87CAD3E02CF6}"/>
              </a:ext>
            </a:extLst>
          </p:cNvPr>
          <p:cNvSpPr/>
          <p:nvPr/>
        </p:nvSpPr>
        <p:spPr>
          <a:xfrm>
            <a:off x="5006433" y="2214379"/>
            <a:ext cx="1794300" cy="635437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Predictive</a:t>
            </a:r>
            <a:endParaRPr sz="16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Analytics</a:t>
            </a:r>
            <a:endParaRPr sz="16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0" name="Google Shape;88;p16">
            <a:extLst>
              <a:ext uri="{FF2B5EF4-FFF2-40B4-BE49-F238E27FC236}">
                <a16:creationId xmlns:a16="http://schemas.microsoft.com/office/drawing/2014/main" id="{38103B0E-3E5B-E1C7-5630-2EF7316F7FC5}"/>
              </a:ext>
            </a:extLst>
          </p:cNvPr>
          <p:cNvSpPr/>
          <p:nvPr/>
        </p:nvSpPr>
        <p:spPr>
          <a:xfrm>
            <a:off x="6585457" y="2214379"/>
            <a:ext cx="1794300" cy="635449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Prescriptive</a:t>
            </a:r>
            <a:endParaRPr sz="16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Analytics</a:t>
            </a:r>
            <a:endParaRPr sz="16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1" name="Google Shape;89;p16">
            <a:extLst>
              <a:ext uri="{FF2B5EF4-FFF2-40B4-BE49-F238E27FC236}">
                <a16:creationId xmlns:a16="http://schemas.microsoft.com/office/drawing/2014/main" id="{EA4DA716-C53A-82F9-6B42-A03972727CDC}"/>
              </a:ext>
            </a:extLst>
          </p:cNvPr>
          <p:cNvSpPr/>
          <p:nvPr/>
        </p:nvSpPr>
        <p:spPr>
          <a:xfrm>
            <a:off x="8150591" y="2214391"/>
            <a:ext cx="1794300" cy="635437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Cognitive</a:t>
            </a:r>
            <a:endParaRPr sz="16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Analytics</a:t>
            </a:r>
            <a:endParaRPr sz="16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2" name="Google Shape;95;p16">
            <a:extLst>
              <a:ext uri="{FF2B5EF4-FFF2-40B4-BE49-F238E27FC236}">
                <a16:creationId xmlns:a16="http://schemas.microsoft.com/office/drawing/2014/main" id="{DD4B44F0-EA9B-C3FA-F7A4-EC84E7826643}"/>
              </a:ext>
            </a:extLst>
          </p:cNvPr>
          <p:cNvSpPr/>
          <p:nvPr/>
        </p:nvSpPr>
        <p:spPr>
          <a:xfrm>
            <a:off x="2581907" y="2863142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96;p16">
            <a:extLst>
              <a:ext uri="{FF2B5EF4-FFF2-40B4-BE49-F238E27FC236}">
                <a16:creationId xmlns:a16="http://schemas.microsoft.com/office/drawing/2014/main" id="{9C712A74-FB8C-79C2-3F6B-F07F0AF2EC4A}"/>
              </a:ext>
            </a:extLst>
          </p:cNvPr>
          <p:cNvSpPr/>
          <p:nvPr/>
        </p:nvSpPr>
        <p:spPr>
          <a:xfrm>
            <a:off x="4177157" y="2863142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97;p16">
            <a:extLst>
              <a:ext uri="{FF2B5EF4-FFF2-40B4-BE49-F238E27FC236}">
                <a16:creationId xmlns:a16="http://schemas.microsoft.com/office/drawing/2014/main" id="{16C3EE1E-52A2-B864-59D0-B2B713962515}"/>
              </a:ext>
            </a:extLst>
          </p:cNvPr>
          <p:cNvSpPr/>
          <p:nvPr/>
        </p:nvSpPr>
        <p:spPr>
          <a:xfrm>
            <a:off x="5916227" y="2863142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98;p16">
            <a:extLst>
              <a:ext uri="{FF2B5EF4-FFF2-40B4-BE49-F238E27FC236}">
                <a16:creationId xmlns:a16="http://schemas.microsoft.com/office/drawing/2014/main" id="{5208812B-CE31-1676-6DA8-CF32FDC07A9D}"/>
              </a:ext>
            </a:extLst>
          </p:cNvPr>
          <p:cNvSpPr/>
          <p:nvPr/>
        </p:nvSpPr>
        <p:spPr>
          <a:xfrm>
            <a:off x="7602547" y="2863142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Google Shape;99;p16">
            <a:extLst>
              <a:ext uri="{FF2B5EF4-FFF2-40B4-BE49-F238E27FC236}">
                <a16:creationId xmlns:a16="http://schemas.microsoft.com/office/drawing/2014/main" id="{EA5445FF-289E-BF4D-7C34-5E3F758C410B}"/>
              </a:ext>
            </a:extLst>
          </p:cNvPr>
          <p:cNvSpPr/>
          <p:nvPr/>
        </p:nvSpPr>
        <p:spPr>
          <a:xfrm>
            <a:off x="9255815" y="2863142"/>
            <a:ext cx="134700" cy="58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90;p16">
            <a:extLst>
              <a:ext uri="{FF2B5EF4-FFF2-40B4-BE49-F238E27FC236}">
                <a16:creationId xmlns:a16="http://schemas.microsoft.com/office/drawing/2014/main" id="{633FAB59-EB18-5B2C-ACBB-D8EC7ADBA438}"/>
              </a:ext>
            </a:extLst>
          </p:cNvPr>
          <p:cNvSpPr txBox="1"/>
          <p:nvPr/>
        </p:nvSpPr>
        <p:spPr>
          <a:xfrm>
            <a:off x="1818208" y="3459656"/>
            <a:ext cx="1441500" cy="1169521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Deals with 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What</a:t>
            </a:r>
            <a:r>
              <a:rPr lang="en" sz="16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happened in 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the past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8" name="Google Shape;91;p16">
            <a:extLst>
              <a:ext uri="{FF2B5EF4-FFF2-40B4-BE49-F238E27FC236}">
                <a16:creationId xmlns:a16="http://schemas.microsoft.com/office/drawing/2014/main" id="{1D6FDFC4-7FEB-4001-9B4F-7020D10D520E}"/>
              </a:ext>
            </a:extLst>
          </p:cNvPr>
          <p:cNvSpPr txBox="1"/>
          <p:nvPr/>
        </p:nvSpPr>
        <p:spPr>
          <a:xfrm>
            <a:off x="3550163" y="3446894"/>
            <a:ext cx="1412950" cy="1169521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Deals with 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Why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It happened in the past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9" name="Google Shape;92;p16">
            <a:extLst>
              <a:ext uri="{FF2B5EF4-FFF2-40B4-BE49-F238E27FC236}">
                <a16:creationId xmlns:a16="http://schemas.microsoft.com/office/drawing/2014/main" id="{B1B402CF-2A6F-848B-2090-6AE29B6AE28A}"/>
              </a:ext>
            </a:extLst>
          </p:cNvPr>
          <p:cNvSpPr txBox="1"/>
          <p:nvPr/>
        </p:nvSpPr>
        <p:spPr>
          <a:xfrm>
            <a:off x="5188663" y="3446893"/>
            <a:ext cx="1571350" cy="1169521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Deals with 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What Will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happen in the future</a:t>
            </a:r>
          </a:p>
        </p:txBody>
      </p:sp>
      <p:sp>
        <p:nvSpPr>
          <p:cNvPr id="21" name="Google Shape;94;p16">
            <a:extLst>
              <a:ext uri="{FF2B5EF4-FFF2-40B4-BE49-F238E27FC236}">
                <a16:creationId xmlns:a16="http://schemas.microsoft.com/office/drawing/2014/main" id="{2D6B6645-1D46-75A4-8189-833524302DA5}"/>
              </a:ext>
            </a:extLst>
          </p:cNvPr>
          <p:cNvSpPr txBox="1"/>
          <p:nvPr/>
        </p:nvSpPr>
        <p:spPr>
          <a:xfrm>
            <a:off x="8556913" y="3462283"/>
            <a:ext cx="1529542" cy="116689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Deals with 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Artificial Intelligence</a:t>
            </a:r>
            <a:endParaRPr sz="1600" b="1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23" name="Google Shape;91;p16">
            <a:extLst>
              <a:ext uri="{FF2B5EF4-FFF2-40B4-BE49-F238E27FC236}">
                <a16:creationId xmlns:a16="http://schemas.microsoft.com/office/drawing/2014/main" id="{BA97FD2D-8E5A-79AE-0DE3-2981BD566345}"/>
              </a:ext>
            </a:extLst>
          </p:cNvPr>
          <p:cNvSpPr txBox="1"/>
          <p:nvPr/>
        </p:nvSpPr>
        <p:spPr>
          <a:xfrm>
            <a:off x="6957509" y="3459656"/>
            <a:ext cx="1412950" cy="1169521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Deals with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How </a:t>
            </a:r>
            <a:endParaRPr lang="en-US" sz="1600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 make it happen</a:t>
            </a:r>
            <a:endParaRPr lang="en-US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9964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CF7C-5A8C-8FE8-7605-D2DA83A2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Analysis</a:t>
            </a:r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05;p17">
            <a:extLst>
              <a:ext uri="{FF2B5EF4-FFF2-40B4-BE49-F238E27FC236}">
                <a16:creationId xmlns:a16="http://schemas.microsoft.com/office/drawing/2014/main" id="{29CD4AFA-5EED-0F91-AB09-A23E7CC85AD3}"/>
              </a:ext>
            </a:extLst>
          </p:cNvPr>
          <p:cNvSpPr/>
          <p:nvPr/>
        </p:nvSpPr>
        <p:spPr>
          <a:xfrm>
            <a:off x="838199" y="2107874"/>
            <a:ext cx="1993135" cy="5832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Descriptive Analytics</a:t>
            </a:r>
            <a:endParaRPr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0" name="Google Shape;106;p17">
            <a:extLst>
              <a:ext uri="{FF2B5EF4-FFF2-40B4-BE49-F238E27FC236}">
                <a16:creationId xmlns:a16="http://schemas.microsoft.com/office/drawing/2014/main" id="{F28FE9D6-8D1C-18C5-2021-DE1548B5A73C}"/>
              </a:ext>
            </a:extLst>
          </p:cNvPr>
          <p:cNvSpPr txBox="1"/>
          <p:nvPr/>
        </p:nvSpPr>
        <p:spPr>
          <a:xfrm>
            <a:off x="838199" y="3513524"/>
            <a:ext cx="1993135" cy="1292631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Deals with 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What</a:t>
            </a: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happened in 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the past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1" name="Google Shape;107;p17">
            <a:extLst>
              <a:ext uri="{FF2B5EF4-FFF2-40B4-BE49-F238E27FC236}">
                <a16:creationId xmlns:a16="http://schemas.microsoft.com/office/drawing/2014/main" id="{6624F8A9-341B-5A8B-D3F2-3EF913BE3EB4}"/>
              </a:ext>
            </a:extLst>
          </p:cNvPr>
          <p:cNvSpPr/>
          <p:nvPr/>
        </p:nvSpPr>
        <p:spPr>
          <a:xfrm>
            <a:off x="1700066" y="2691074"/>
            <a:ext cx="95683" cy="8224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108;p17">
            <a:extLst>
              <a:ext uri="{FF2B5EF4-FFF2-40B4-BE49-F238E27FC236}">
                <a16:creationId xmlns:a16="http://schemas.microsoft.com/office/drawing/2014/main" id="{556845F1-693C-0796-3880-D1C89966EC98}"/>
              </a:ext>
            </a:extLst>
          </p:cNvPr>
          <p:cNvSpPr txBox="1">
            <a:spLocks/>
          </p:cNvSpPr>
          <p:nvPr/>
        </p:nvSpPr>
        <p:spPr>
          <a:xfrm>
            <a:off x="3552612" y="1796324"/>
            <a:ext cx="6381300" cy="2794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626A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There are </a:t>
            </a:r>
            <a:r>
              <a:rPr lang="en-US" sz="2000" u="sng" dirty="0">
                <a:solidFill>
                  <a:srgbClr val="626A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two main techniques </a:t>
            </a:r>
            <a:r>
              <a:rPr lang="en-US" sz="2000" dirty="0">
                <a:solidFill>
                  <a:srgbClr val="626A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used in descriptive analytics:</a:t>
            </a:r>
          </a:p>
          <a:p>
            <a:pPr marL="457200" indent="-330200" algn="just">
              <a:buClr>
                <a:srgbClr val="626A70"/>
              </a:buClr>
              <a:buSzPts val="1600"/>
              <a:buFont typeface="Arial"/>
              <a:buChar char="●"/>
            </a:pPr>
            <a:r>
              <a:rPr lang="en-US" sz="2000" dirty="0">
                <a:solidFill>
                  <a:srgbClr val="626A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 aggregation: Data aggregation is the process of gathering data and presenting it in a summarized format.</a:t>
            </a:r>
          </a:p>
          <a:p>
            <a:pPr marL="457200" indent="-330200" algn="just">
              <a:buClr>
                <a:srgbClr val="626A70"/>
              </a:buClr>
              <a:buSzPts val="1600"/>
              <a:buFont typeface="Arial"/>
              <a:buChar char="●"/>
            </a:pPr>
            <a:r>
              <a:rPr lang="en-US" sz="2000" dirty="0">
                <a:solidFill>
                  <a:srgbClr val="626A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 mining: Data mining is the analysis part. This is when the analyst explores the data in order to uncover any patterns or </a:t>
            </a:r>
            <a:r>
              <a:rPr lang="en-US" sz="2000" dirty="0" err="1">
                <a:solidFill>
                  <a:srgbClr val="626A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trends.The</a:t>
            </a:r>
            <a:r>
              <a:rPr lang="en-US" sz="2000" dirty="0">
                <a:solidFill>
                  <a:srgbClr val="626A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outcome of descriptive analysis is a visual representation of the data—as a </a:t>
            </a:r>
            <a:r>
              <a:rPr lang="en-US" sz="2000" b="1" dirty="0">
                <a:solidFill>
                  <a:srgbClr val="626A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bar graph</a:t>
            </a:r>
            <a:r>
              <a:rPr lang="en-US" sz="2000" dirty="0">
                <a:solidFill>
                  <a:srgbClr val="626A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, or a </a:t>
            </a:r>
            <a:r>
              <a:rPr lang="en-US" sz="2000" b="1" dirty="0">
                <a:solidFill>
                  <a:srgbClr val="626A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pie chart</a:t>
            </a:r>
            <a:r>
              <a:rPr lang="en-US" sz="2000" dirty="0">
                <a:solidFill>
                  <a:srgbClr val="626A7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13" name="Google Shape;109;p17">
            <a:extLst>
              <a:ext uri="{FF2B5EF4-FFF2-40B4-BE49-F238E27FC236}">
                <a16:creationId xmlns:a16="http://schemas.microsoft.com/office/drawing/2014/main" id="{C2CD239F-52DD-3ED7-BBDC-04254C36E9F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08713" y="4590824"/>
            <a:ext cx="2724725" cy="130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10;p17">
            <a:extLst>
              <a:ext uri="{FF2B5EF4-FFF2-40B4-BE49-F238E27FC236}">
                <a16:creationId xmlns:a16="http://schemas.microsoft.com/office/drawing/2014/main" id="{73336B6E-69CA-6D7A-FFE7-C690B4246A7F}"/>
              </a:ext>
            </a:extLst>
          </p:cNvPr>
          <p:cNvSpPr/>
          <p:nvPr/>
        </p:nvSpPr>
        <p:spPr>
          <a:xfrm>
            <a:off x="4391363" y="4901499"/>
            <a:ext cx="854388" cy="946728"/>
          </a:xfrm>
          <a:prstGeom prst="flowChartMultidocument">
            <a:avLst/>
          </a:prstGeom>
          <a:solidFill>
            <a:schemeClr val="lt1"/>
          </a:solidFill>
          <a:ln w="9525" cap="flat" cmpd="sng">
            <a:solidFill>
              <a:srgbClr val="2732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pen Sans"/>
                <a:ea typeface="Open Sans"/>
                <a:cs typeface="Open Sans"/>
                <a:sym typeface="Open Sans"/>
              </a:rPr>
              <a:t>—-—-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pen Sans"/>
                <a:ea typeface="Open Sans"/>
                <a:cs typeface="Open Sans"/>
                <a:sym typeface="Open Sans"/>
              </a:rPr>
              <a:t>—-—-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pen Sans"/>
                <a:ea typeface="Open Sans"/>
                <a:cs typeface="Open Sans"/>
                <a:sym typeface="Open Sans"/>
              </a:rPr>
              <a:t>—-—-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111;p17">
            <a:extLst>
              <a:ext uri="{FF2B5EF4-FFF2-40B4-BE49-F238E27FC236}">
                <a16:creationId xmlns:a16="http://schemas.microsoft.com/office/drawing/2014/main" id="{501A1D8F-BC7F-FCC0-73E5-B9F111C457BF}"/>
              </a:ext>
            </a:extLst>
          </p:cNvPr>
          <p:cNvSpPr/>
          <p:nvPr/>
        </p:nvSpPr>
        <p:spPr>
          <a:xfrm>
            <a:off x="5375188" y="5281224"/>
            <a:ext cx="533400" cy="224400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00D896"/>
              </a:gs>
              <a:gs pos="100000">
                <a:srgbClr val="04523A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D0E0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74767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3843F-C8AE-4721-58CB-41F822DE1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93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Analytics</a:t>
            </a:r>
            <a:endParaRPr lang="en-N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118;p18">
            <a:extLst>
              <a:ext uri="{FF2B5EF4-FFF2-40B4-BE49-F238E27FC236}">
                <a16:creationId xmlns:a16="http://schemas.microsoft.com/office/drawing/2014/main" id="{0BC7A33A-BA71-BE36-4BBC-19A6D01CF1AC}"/>
              </a:ext>
            </a:extLst>
          </p:cNvPr>
          <p:cNvSpPr/>
          <p:nvPr/>
        </p:nvSpPr>
        <p:spPr>
          <a:xfrm>
            <a:off x="838200" y="2237744"/>
            <a:ext cx="2180422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Diagnostic</a:t>
            </a:r>
            <a:endParaRPr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Analytics</a:t>
            </a:r>
            <a:endParaRPr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1" name="Google Shape;119;p18">
            <a:extLst>
              <a:ext uri="{FF2B5EF4-FFF2-40B4-BE49-F238E27FC236}">
                <a16:creationId xmlns:a16="http://schemas.microsoft.com/office/drawing/2014/main" id="{04FBDD04-30F1-D02D-41EB-6B681C2488B2}"/>
              </a:ext>
            </a:extLst>
          </p:cNvPr>
          <p:cNvSpPr txBox="1"/>
          <p:nvPr/>
        </p:nvSpPr>
        <p:spPr>
          <a:xfrm>
            <a:off x="1062450" y="3688094"/>
            <a:ext cx="1635408" cy="1292631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Deals with 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Why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It happened in the past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2" name="Google Shape;120;p18">
            <a:extLst>
              <a:ext uri="{FF2B5EF4-FFF2-40B4-BE49-F238E27FC236}">
                <a16:creationId xmlns:a16="http://schemas.microsoft.com/office/drawing/2014/main" id="{A4221337-4E2F-C194-73D7-70235D45CC40}"/>
              </a:ext>
            </a:extLst>
          </p:cNvPr>
          <p:cNvSpPr/>
          <p:nvPr/>
        </p:nvSpPr>
        <p:spPr>
          <a:xfrm>
            <a:off x="1762699" y="2865644"/>
            <a:ext cx="198303" cy="8224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5A058F-7D6F-F41E-3373-C9D029F6FA70}"/>
              </a:ext>
            </a:extLst>
          </p:cNvPr>
          <p:cNvSpPr txBox="1"/>
          <p:nvPr/>
        </p:nvSpPr>
        <p:spPr>
          <a:xfrm>
            <a:off x="3474307" y="1631090"/>
            <a:ext cx="7955693" cy="3349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deeper insights into why specific events, outcomes or behaviors occurred. It aims to reveal the causes that lead to the results.</a:t>
            </a:r>
          </a:p>
          <a:p>
            <a:pPr marL="457200" lvl="0" indent="-317182" algn="just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problem: Clearly define the problem you want to investigate</a:t>
            </a:r>
          </a:p>
          <a:p>
            <a:pPr marL="457200" lvl="0" indent="-317182" algn="just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Collect relevant historical data related to the problem</a:t>
            </a:r>
          </a:p>
          <a:p>
            <a:pPr marL="457200" lvl="0" indent="-317182" algn="just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 Clean the data to ensure the quality and reliability</a:t>
            </a:r>
          </a:p>
          <a:p>
            <a:pPr marL="457200" lvl="0" indent="-317182" algn="just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analysis: Perform relevant tests</a:t>
            </a:r>
          </a:p>
          <a:p>
            <a:pPr marL="457200" lvl="0" indent="-317182" algn="just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 Visualize them to clearly identify their relationships</a:t>
            </a:r>
          </a:p>
          <a:p>
            <a:pPr marL="457200" lvl="0" indent="-317182" algn="just" rtl="0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detection: Identify unusual or unexpected patterns in the data</a:t>
            </a:r>
          </a:p>
        </p:txBody>
      </p:sp>
    </p:spTree>
    <p:extLst>
      <p:ext uri="{BB962C8B-B14F-4D97-AF65-F5344CB8AC3E}">
        <p14:creationId xmlns:p14="http://schemas.microsoft.com/office/powerpoint/2010/main" val="3337389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09F1-6397-6F38-81CD-B9F1D6B4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endParaRPr lang="en-N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27;p19">
            <a:extLst>
              <a:ext uri="{FF2B5EF4-FFF2-40B4-BE49-F238E27FC236}">
                <a16:creationId xmlns:a16="http://schemas.microsoft.com/office/drawing/2014/main" id="{37B870B0-9DE9-17B7-1416-8320CCE13C72}"/>
              </a:ext>
            </a:extLst>
          </p:cNvPr>
          <p:cNvSpPr/>
          <p:nvPr/>
        </p:nvSpPr>
        <p:spPr>
          <a:xfrm>
            <a:off x="838200" y="1958638"/>
            <a:ext cx="2064070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Predictive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Analytics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28;p19">
            <a:extLst>
              <a:ext uri="{FF2B5EF4-FFF2-40B4-BE49-F238E27FC236}">
                <a16:creationId xmlns:a16="http://schemas.microsoft.com/office/drawing/2014/main" id="{8102A955-8BAE-1813-D1F9-B55A75BDFE27}"/>
              </a:ext>
            </a:extLst>
          </p:cNvPr>
          <p:cNvSpPr txBox="1"/>
          <p:nvPr/>
        </p:nvSpPr>
        <p:spPr>
          <a:xfrm>
            <a:off x="1107974" y="3409000"/>
            <a:ext cx="1548139" cy="126185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Deals with 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What Will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happen in the future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129;p19">
            <a:extLst>
              <a:ext uri="{FF2B5EF4-FFF2-40B4-BE49-F238E27FC236}">
                <a16:creationId xmlns:a16="http://schemas.microsoft.com/office/drawing/2014/main" id="{2B2BC58F-5235-56C3-BCE7-B67F795C781B}"/>
              </a:ext>
            </a:extLst>
          </p:cNvPr>
          <p:cNvSpPr/>
          <p:nvPr/>
        </p:nvSpPr>
        <p:spPr>
          <a:xfrm>
            <a:off x="1769241" y="2586538"/>
            <a:ext cx="92216" cy="82246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0AEAFF-D2FD-78F4-9966-E70213BEC2AD}"/>
              </a:ext>
            </a:extLst>
          </p:cNvPr>
          <p:cNvSpPr txBox="1"/>
          <p:nvPr/>
        </p:nvSpPr>
        <p:spPr>
          <a:xfrm>
            <a:off x="3722914" y="1824021"/>
            <a:ext cx="60960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seeks to predict what is likely to happen in the future. 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past patterns and trends, data analysts can utilize predictive models which estimate the likelihood of a future event or outcome. 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helpful in predictive analysis.</a:t>
            </a:r>
          </a:p>
        </p:txBody>
      </p:sp>
    </p:spTree>
    <p:extLst>
      <p:ext uri="{BB962C8B-B14F-4D97-AF65-F5344CB8AC3E}">
        <p14:creationId xmlns:p14="http://schemas.microsoft.com/office/powerpoint/2010/main" val="4206388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AB37-EFD4-377E-CEF0-02AB2446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 Analytics</a:t>
            </a:r>
          </a:p>
        </p:txBody>
      </p:sp>
      <p:sp>
        <p:nvSpPr>
          <p:cNvPr id="8" name="Google Shape;136;p20">
            <a:extLst>
              <a:ext uri="{FF2B5EF4-FFF2-40B4-BE49-F238E27FC236}">
                <a16:creationId xmlns:a16="http://schemas.microsoft.com/office/drawing/2014/main" id="{E0932E39-2CE5-B55C-A47F-F5967230CB24}"/>
              </a:ext>
            </a:extLst>
          </p:cNvPr>
          <p:cNvSpPr/>
          <p:nvPr/>
        </p:nvSpPr>
        <p:spPr>
          <a:xfrm>
            <a:off x="838200" y="2263450"/>
            <a:ext cx="2198914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Prescriptive</a:t>
            </a:r>
            <a:endParaRPr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Analytics</a:t>
            </a:r>
            <a:endParaRPr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0" name="Google Shape;137;p20">
            <a:extLst>
              <a:ext uri="{FF2B5EF4-FFF2-40B4-BE49-F238E27FC236}">
                <a16:creationId xmlns:a16="http://schemas.microsoft.com/office/drawing/2014/main" id="{CA8EAB94-9E55-CAD0-D119-7DFB85CC2611}"/>
              </a:ext>
            </a:extLst>
          </p:cNvPr>
          <p:cNvSpPr txBox="1"/>
          <p:nvPr/>
        </p:nvSpPr>
        <p:spPr>
          <a:xfrm>
            <a:off x="947057" y="3713800"/>
            <a:ext cx="2013857" cy="101563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Deals with 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How 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to make it happen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1" name="Google Shape;138;p20">
            <a:extLst>
              <a:ext uri="{FF2B5EF4-FFF2-40B4-BE49-F238E27FC236}">
                <a16:creationId xmlns:a16="http://schemas.microsoft.com/office/drawing/2014/main" id="{683CBA91-F51E-AEA6-79C2-40C2E62E875A}"/>
              </a:ext>
            </a:extLst>
          </p:cNvPr>
          <p:cNvSpPr/>
          <p:nvPr/>
        </p:nvSpPr>
        <p:spPr>
          <a:xfrm>
            <a:off x="1667999" y="2891350"/>
            <a:ext cx="247887" cy="8224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7319F2-E1E4-7973-7FFD-C1C825FD1790}"/>
              </a:ext>
            </a:extLst>
          </p:cNvPr>
          <p:cNvSpPr txBox="1"/>
          <p:nvPr/>
        </p:nvSpPr>
        <p:spPr>
          <a:xfrm>
            <a:off x="3973286" y="2167146"/>
            <a:ext cx="6096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analytics goes beyond what has happened, why it happened, and what might happen to determine what should be done next.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models are used to calculate all the possible “routes” a company might take to reach their goals to determine the best possible option.</a:t>
            </a:r>
          </a:p>
        </p:txBody>
      </p:sp>
    </p:spTree>
    <p:extLst>
      <p:ext uri="{BB962C8B-B14F-4D97-AF65-F5344CB8AC3E}">
        <p14:creationId xmlns:p14="http://schemas.microsoft.com/office/powerpoint/2010/main" val="1746778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1235-7449-5931-53BC-A3D1E4E0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Analytics</a:t>
            </a:r>
          </a:p>
        </p:txBody>
      </p:sp>
      <p:sp>
        <p:nvSpPr>
          <p:cNvPr id="9" name="Google Shape;145;p21">
            <a:extLst>
              <a:ext uri="{FF2B5EF4-FFF2-40B4-BE49-F238E27FC236}">
                <a16:creationId xmlns:a16="http://schemas.microsoft.com/office/drawing/2014/main" id="{B16F3660-6A5B-1E7A-36E6-7BCFC60EFC98}"/>
              </a:ext>
            </a:extLst>
          </p:cNvPr>
          <p:cNvSpPr/>
          <p:nvPr/>
        </p:nvSpPr>
        <p:spPr>
          <a:xfrm>
            <a:off x="1019270" y="2476642"/>
            <a:ext cx="1963415" cy="627900"/>
          </a:xfrm>
          <a:prstGeom prst="chevron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Cognitive</a:t>
            </a:r>
            <a:endParaRPr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Analytics</a:t>
            </a:r>
            <a:endParaRPr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0" name="Google Shape;146;p21">
            <a:extLst>
              <a:ext uri="{FF2B5EF4-FFF2-40B4-BE49-F238E27FC236}">
                <a16:creationId xmlns:a16="http://schemas.microsoft.com/office/drawing/2014/main" id="{FCBB513D-B9C0-59B9-F304-EFF07A4C32F0}"/>
              </a:ext>
            </a:extLst>
          </p:cNvPr>
          <p:cNvSpPr txBox="1"/>
          <p:nvPr/>
        </p:nvSpPr>
        <p:spPr>
          <a:xfrm>
            <a:off x="1243520" y="3926992"/>
            <a:ext cx="1577363" cy="107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Deals with </a:t>
            </a:r>
            <a:endParaRPr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Artificial Intelligence</a:t>
            </a:r>
            <a:endParaRPr b="1" dirty="0">
              <a:solidFill>
                <a:schemeClr val="dk2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11" name="Google Shape;147;p21">
            <a:extLst>
              <a:ext uri="{FF2B5EF4-FFF2-40B4-BE49-F238E27FC236}">
                <a16:creationId xmlns:a16="http://schemas.microsoft.com/office/drawing/2014/main" id="{FC49C2E4-43BB-824C-66C1-84F86BAD14FB}"/>
              </a:ext>
            </a:extLst>
          </p:cNvPr>
          <p:cNvSpPr/>
          <p:nvPr/>
        </p:nvSpPr>
        <p:spPr>
          <a:xfrm>
            <a:off x="1849070" y="3104542"/>
            <a:ext cx="240987" cy="8224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AF8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54DD1-0319-056B-96F1-3AC750C06213}"/>
              </a:ext>
            </a:extLst>
          </p:cNvPr>
          <p:cNvSpPr txBox="1"/>
          <p:nvPr/>
        </p:nvSpPr>
        <p:spPr>
          <a:xfrm>
            <a:off x="3897086" y="1618443"/>
            <a:ext cx="7141028" cy="4088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Analytics combines Artificial Intelligence and Data Analytics to learn from the data and extract the hidden patterns from data. It brings all the data sources. </a:t>
            </a:r>
          </a:p>
          <a:p>
            <a:pPr marL="0" lvl="0" indent="0" algn="just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comes from everywhere: sensors used to gather climate information, posts to social media platforms, voices, images and videos, purchase transaction records, and mobile phone GPS signals, etc.</a:t>
            </a:r>
          </a:p>
          <a:p>
            <a:pPr marL="0" lvl="0" indent="0" algn="just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Cognitive Analytics work?</a:t>
            </a:r>
          </a:p>
          <a:p>
            <a:pPr marL="457200" lvl="0" indent="-317500" algn="just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natural language and human interactions.</a:t>
            </a:r>
          </a:p>
          <a:p>
            <a:pPr marL="457200" lvl="0" indent="-31750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and evaluating the Evidence-based hypothesis.</a:t>
            </a:r>
          </a:p>
          <a:p>
            <a:pPr marL="457200" lvl="0" indent="-31750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and learning from user selections and responses.</a:t>
            </a:r>
          </a:p>
        </p:txBody>
      </p:sp>
    </p:spTree>
    <p:extLst>
      <p:ext uri="{BB962C8B-B14F-4D97-AF65-F5344CB8AC3E}">
        <p14:creationId xmlns:p14="http://schemas.microsoft.com/office/powerpoint/2010/main" val="2576019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46922-0A54-EF0F-7CFC-1C75E62F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F5678-B905-CBA0-1F11-BF2BC307D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Technologies and Tools used in Data Analytics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36D8597-65EA-6177-6EAB-8912137CD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185831"/>
              </p:ext>
            </p:extLst>
          </p:nvPr>
        </p:nvGraphicFramePr>
        <p:xfrm>
          <a:off x="1154604" y="1675227"/>
          <a:ext cx="9882792" cy="4640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452">
                  <a:extLst>
                    <a:ext uri="{9D8B030D-6E8A-4147-A177-3AD203B41FA5}">
                      <a16:colId xmlns:a16="http://schemas.microsoft.com/office/drawing/2014/main" val="1098577793"/>
                    </a:ext>
                  </a:extLst>
                </a:gridCol>
                <a:gridCol w="3336670">
                  <a:extLst>
                    <a:ext uri="{9D8B030D-6E8A-4147-A177-3AD203B41FA5}">
                      <a16:colId xmlns:a16="http://schemas.microsoft.com/office/drawing/2014/main" val="975991711"/>
                    </a:ext>
                  </a:extLst>
                </a:gridCol>
                <a:gridCol w="3336670">
                  <a:extLst>
                    <a:ext uri="{9D8B030D-6E8A-4147-A177-3AD203B41FA5}">
                      <a16:colId xmlns:a16="http://schemas.microsoft.com/office/drawing/2014/main" val="3594603156"/>
                    </a:ext>
                  </a:extLst>
                </a:gridCol>
              </a:tblGrid>
              <a:tr h="396199"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Technology/Tool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95953"/>
                  </a:ext>
                </a:extLst>
              </a:tr>
              <a:tr h="666334"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</a:t>
                      </a:r>
                      <a:endParaRPr lang="en-NZ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Hadoop, Amazon S3, Google BigQuery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and manage large volumes of structured and unstructured data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191836"/>
                  </a:ext>
                </a:extLst>
              </a:tr>
              <a:tr h="666334"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</a:t>
                      </a:r>
                      <a:endParaRPr lang="en-NZ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Spark, Apache Flink, Pandas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processing and manipulation of large datasets. 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524706"/>
                  </a:ext>
                </a:extLst>
              </a:tr>
              <a:tr h="666334"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Analysis </a:t>
                      </a:r>
                      <a:endParaRPr lang="en-NZ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(NumPy, Pandas)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 statistical analysis and build machine learning models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642445"/>
                  </a:ext>
                </a:extLst>
              </a:tr>
              <a:tr h="666334"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</a:t>
                      </a:r>
                      <a:endParaRPr lang="en-NZ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Tableau, Power BI, Matplotlib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interactive and interpretable data visualizations.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05103"/>
                  </a:ext>
                </a:extLst>
              </a:tr>
              <a:tr h="666334"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Integration</a:t>
                      </a:r>
                      <a:endParaRPr lang="en-NZ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NiFi, Talend, informatica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Extract, transform and load (ETL) data from multiple source.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217325"/>
                  </a:ext>
                </a:extLst>
              </a:tr>
              <a:tr h="666334">
                <a:tc>
                  <a:txBody>
                    <a:bodyPr/>
                    <a:lstStyle/>
                    <a:p>
                      <a:pPr algn="just"/>
                      <a:r>
                        <a:rPr 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and AI</a:t>
                      </a:r>
                      <a:endParaRPr lang="en-NZ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Scikit-learn, TensorFlow, and PyTorch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predictive and prescriptive analytic models.</a:t>
                      </a:r>
                      <a:endParaRPr lang="en-NZ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045" marR="90045" marT="45023" marB="450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895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949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2AAB6-3AE2-70BB-5A8D-4ECF36C22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01841"/>
            <a:ext cx="10515600" cy="100647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Lifecycle</a:t>
            </a:r>
            <a:endParaRPr lang="en-N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6C833B15-E1B3-0349-F1EA-D97AABC0AA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6533143"/>
              </p:ext>
            </p:extLst>
          </p:nvPr>
        </p:nvGraphicFramePr>
        <p:xfrm>
          <a:off x="1861457" y="705078"/>
          <a:ext cx="8218714" cy="5951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7E2446-64AD-F0D3-3D92-26F623FA7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220024"/>
              </p:ext>
            </p:extLst>
          </p:nvPr>
        </p:nvGraphicFramePr>
        <p:xfrm>
          <a:off x="1295400" y="6406696"/>
          <a:ext cx="9844315" cy="451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4315">
                  <a:extLst>
                    <a:ext uri="{9D8B030D-6E8A-4147-A177-3AD203B41FA5}">
                      <a16:colId xmlns:a16="http://schemas.microsoft.com/office/drawing/2014/main" val="4180922033"/>
                    </a:ext>
                  </a:extLst>
                </a:gridCol>
              </a:tblGrid>
              <a:tr h="45130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Reference: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EMC Education Services, 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Science and Big Data Analytics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Wiley (2015)</a:t>
                      </a:r>
                      <a:endParaRPr lang="en-NZ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459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897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0189E-CC12-A784-F3E3-5D63C615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and Challenges of Data Analytics</a:t>
            </a:r>
            <a:endParaRPr lang="en-N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0E4879-83DB-A5CE-5EE3-EC338E508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258495"/>
              </p:ext>
            </p:extLst>
          </p:nvPr>
        </p:nvGraphicFramePr>
        <p:xfrm>
          <a:off x="954312" y="1492552"/>
          <a:ext cx="9452430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6215">
                  <a:extLst>
                    <a:ext uri="{9D8B030D-6E8A-4147-A177-3AD203B41FA5}">
                      <a16:colId xmlns:a16="http://schemas.microsoft.com/office/drawing/2014/main" val="494490826"/>
                    </a:ext>
                  </a:extLst>
                </a:gridCol>
                <a:gridCol w="4726215">
                  <a:extLst>
                    <a:ext uri="{9D8B030D-6E8A-4147-A177-3AD203B41FA5}">
                      <a16:colId xmlns:a16="http://schemas.microsoft.com/office/drawing/2014/main" val="2280874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 </a:t>
                      </a:r>
                      <a:endParaRPr lang="en-NZ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</a:t>
                      </a:r>
                      <a:endParaRPr lang="en-NZ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17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Healthcare: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diagnostics, patient monitoring.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Privacy: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Ensuring compliance with data protection laws.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061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Finance: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Fraud detection, algorithmic trading.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Quality: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Handling missing, inconsistent, or noisy data.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106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Retail: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segmentation, inventory forecasting.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and storing large-scale datasets efficiently.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152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Transportation: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 optimization, demand prediction.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Gap: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Shortage of skill professionals in data science.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545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Agriculture: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Yield protection, smart irrigation.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 Integration: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Combing tools across platforms and formats. 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198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Manufacturing: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maintenance, process automation.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processing: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low-latency analytics solutions.</a:t>
                      </a:r>
                      <a:endParaRPr lang="en-NZ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4831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AA5BB3-B6E0-1CEF-3A6C-AFDB32A68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593655"/>
              </p:ext>
            </p:extLst>
          </p:nvPr>
        </p:nvGraphicFramePr>
        <p:xfrm>
          <a:off x="838200" y="6267223"/>
          <a:ext cx="984431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4315">
                  <a:extLst>
                    <a:ext uri="{9D8B030D-6E8A-4147-A177-3AD203B41FA5}">
                      <a16:colId xmlns:a16="http://schemas.microsoft.com/office/drawing/2014/main" val="4180922033"/>
                    </a:ext>
                  </a:extLst>
                </a:gridCol>
              </a:tblGrid>
              <a:tr h="45130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References: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Katal, A.,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Wazid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, M., &amp;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</a:rPr>
                        <a:t>Goudar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, R.H. (2013). 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</a:rPr>
                        <a:t>Big Data: Issues, Challenges, Tools and Good Practices, IEEE Paper</a:t>
                      </a:r>
                    </a:p>
                    <a:p>
                      <a:pPr algn="l"/>
                      <a:r>
                        <a:rPr lang="en-NZ" sz="1400" b="0" dirty="0">
                          <a:solidFill>
                            <a:schemeClr val="tx1"/>
                          </a:solidFill>
                        </a:rPr>
                        <a:t>                           2) https://www.weforum.org/agenda/2021/10/data-governance-ethics/</a:t>
                      </a:r>
                      <a:endParaRPr lang="en-NZ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459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458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9B87C-8319-C0F1-B106-0BC41805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Summary and End of Session</a:t>
            </a:r>
            <a:endParaRPr lang="en-NZ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9E6B85D-C487-989E-DDF0-2A12334CAB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68847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8483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Question mark against red wall">
            <a:extLst>
              <a:ext uri="{FF2B5EF4-FFF2-40B4-BE49-F238E27FC236}">
                <a16:creationId xmlns:a16="http://schemas.microsoft.com/office/drawing/2014/main" id="{54128ABB-F749-BA63-354B-23187D16A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5000"/>
          </a:blip>
          <a:srcRect b="7025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C0925-5D86-5958-28A6-000BE5A4C1D7}"/>
              </a:ext>
            </a:extLst>
          </p:cNvPr>
          <p:cNvSpPr txBox="1"/>
          <p:nvPr/>
        </p:nvSpPr>
        <p:spPr>
          <a:xfrm>
            <a:off x="4523508" y="102499"/>
            <a:ext cx="6906491" cy="1258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</a:rPr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3429437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1145</Words>
  <Application>Microsoft Office PowerPoint</Application>
  <PresentationFormat>Widescreen</PresentationFormat>
  <Paragraphs>174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Open Sans</vt:lpstr>
      <vt:lpstr>Times New Roman</vt:lpstr>
      <vt:lpstr>Office Theme</vt:lpstr>
      <vt:lpstr>PowerPoint Presentation</vt:lpstr>
      <vt:lpstr>What is data analytics</vt:lpstr>
      <vt:lpstr>Data Analytics vs Data Science</vt:lpstr>
      <vt:lpstr>Types of Data Analytics </vt:lpstr>
      <vt:lpstr>Descriptive Analysis</vt:lpstr>
      <vt:lpstr>Diagnostic Analytics</vt:lpstr>
      <vt:lpstr>Predictive Analytics</vt:lpstr>
      <vt:lpstr>Perspective  Analytics</vt:lpstr>
      <vt:lpstr>Cognitive Analytics</vt:lpstr>
      <vt:lpstr>Technologies and Tools used in Data Analytics</vt:lpstr>
      <vt:lpstr>Analytics Lifecycle</vt:lpstr>
      <vt:lpstr>Application and Challenges of Data Analytics</vt:lpstr>
      <vt:lpstr>Summary and End of Session</vt:lpstr>
      <vt:lpstr>PowerPoint Presentation</vt:lpstr>
    </vt:vector>
  </TitlesOfParts>
  <Company>UP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Mukesh Mishra</dc:creator>
  <cp:lastModifiedBy>Mohammad Norouzifard</cp:lastModifiedBy>
  <cp:revision>32</cp:revision>
  <dcterms:created xsi:type="dcterms:W3CDTF">2025-04-12T04:37:26Z</dcterms:created>
  <dcterms:modified xsi:type="dcterms:W3CDTF">2026-03-30T06:29:46Z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2025-04-12T05:26:32Z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d08d9a5a-723a-4da8-9e75-59d28be0f90f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