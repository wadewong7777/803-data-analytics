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Nunito" pitchFamily="2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PT Sans Narrow" panose="020B0506020203020204" pitchFamily="3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E6A2A6-408F-4158-B411-5363B396C079}">
  <a:tblStyle styleId="{F4E6A2A6-408F-4158-B411-5363B396C0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424" autoAdjust="0"/>
  </p:normalViewPr>
  <p:slideViewPr>
    <p:cSldViewPr snapToGrid="0">
      <p:cViewPr varScale="1">
        <p:scale>
          <a:sx n="63" d="100"/>
          <a:sy n="63" d="100"/>
        </p:scale>
        <p:origin x="138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an Wang" userId="5375c050-d6a4-4212-980e-f548dd476485" providerId="ADAL" clId="{921D813D-5783-C547-AE2E-A855551602D2}"/>
    <pc:docChg chg="custSel modSld">
      <pc:chgData name="Guan Wang" userId="5375c050-d6a4-4212-980e-f548dd476485" providerId="ADAL" clId="{921D813D-5783-C547-AE2E-A855551602D2}" dt="2024-07-23T11:28:48.620" v="0" actId="7634"/>
      <pc:docMkLst>
        <pc:docMk/>
      </pc:docMkLst>
      <pc:sldChg chg="addSp">
        <pc:chgData name="Guan Wang" userId="5375c050-d6a4-4212-980e-f548dd476485" providerId="ADAL" clId="{921D813D-5783-C547-AE2E-A855551602D2}" dt="2024-07-23T11:28:48.620" v="0" actId="7634"/>
        <pc:sldMkLst>
          <pc:docMk/>
          <pc:sldMk cId="0" sldId="259"/>
        </pc:sldMkLst>
        <pc:inkChg chg="add">
          <ac:chgData name="Guan Wang" userId="5375c050-d6a4-4212-980e-f548dd476485" providerId="ADAL" clId="{921D813D-5783-C547-AE2E-A855551602D2}" dt="2024-07-23T11:28:48.620" v="0" actId="7634"/>
          <ac:inkMkLst>
            <pc:docMk/>
            <pc:sldMk cId="0" sldId="259"/>
            <ac:inkMk id="2" creationId="{E6122CCF-8248-C402-BAF9-6CF538B59F07}"/>
          </ac:inkMkLst>
        </pc:inkChg>
      </pc:sldChg>
      <pc:sldChg chg="addSp">
        <pc:chgData name="Guan Wang" userId="5375c050-d6a4-4212-980e-f548dd476485" providerId="ADAL" clId="{921D813D-5783-C547-AE2E-A855551602D2}" dt="2024-07-23T11:28:48.620" v="0" actId="7634"/>
        <pc:sldMkLst>
          <pc:docMk/>
          <pc:sldMk cId="0" sldId="260"/>
        </pc:sldMkLst>
        <pc:inkChg chg="add">
          <ac:chgData name="Guan Wang" userId="5375c050-d6a4-4212-980e-f548dd476485" providerId="ADAL" clId="{921D813D-5783-C547-AE2E-A855551602D2}" dt="2024-07-23T11:28:48.620" v="0" actId="7634"/>
          <ac:inkMkLst>
            <pc:docMk/>
            <pc:sldMk cId="0" sldId="260"/>
            <ac:inkMk id="2" creationId="{77F26306-5650-0449-0DD6-738404C4A2DE}"/>
          </ac:inkMkLst>
        </pc:inkChg>
      </pc:sldChg>
      <pc:sldChg chg="addSp">
        <pc:chgData name="Guan Wang" userId="5375c050-d6a4-4212-980e-f548dd476485" providerId="ADAL" clId="{921D813D-5783-C547-AE2E-A855551602D2}" dt="2024-07-23T11:28:48.620" v="0" actId="7634"/>
        <pc:sldMkLst>
          <pc:docMk/>
          <pc:sldMk cId="0" sldId="261"/>
        </pc:sldMkLst>
        <pc:inkChg chg="add">
          <ac:chgData name="Guan Wang" userId="5375c050-d6a4-4212-980e-f548dd476485" providerId="ADAL" clId="{921D813D-5783-C547-AE2E-A855551602D2}" dt="2024-07-23T11:28:48.620" v="0" actId="7634"/>
          <ac:inkMkLst>
            <pc:docMk/>
            <pc:sldMk cId="0" sldId="261"/>
            <ac:inkMk id="2" creationId="{D2E70082-CF60-A059-38D6-D534FB60C8F6}"/>
          </ac:inkMkLst>
        </pc:inkChg>
      </pc:sldChg>
      <pc:sldChg chg="addSp">
        <pc:chgData name="Guan Wang" userId="5375c050-d6a4-4212-980e-f548dd476485" providerId="ADAL" clId="{921D813D-5783-C547-AE2E-A855551602D2}" dt="2024-07-23T11:28:48.620" v="0" actId="7634"/>
        <pc:sldMkLst>
          <pc:docMk/>
          <pc:sldMk cId="0" sldId="262"/>
        </pc:sldMkLst>
        <pc:inkChg chg="add">
          <ac:chgData name="Guan Wang" userId="5375c050-d6a4-4212-980e-f548dd476485" providerId="ADAL" clId="{921D813D-5783-C547-AE2E-A855551602D2}" dt="2024-07-23T11:28:48.620" v="0" actId="7634"/>
          <ac:inkMkLst>
            <pc:docMk/>
            <pc:sldMk cId="0" sldId="262"/>
            <ac:inkMk id="2" creationId="{8CFBE541-D4EA-8FB1-3FCB-52D9AD639B10}"/>
          </ac:inkMkLst>
        </pc:inkChg>
      </pc:sldChg>
      <pc:sldChg chg="addSp">
        <pc:chgData name="Guan Wang" userId="5375c050-d6a4-4212-980e-f548dd476485" providerId="ADAL" clId="{921D813D-5783-C547-AE2E-A855551602D2}" dt="2024-07-23T11:28:48.620" v="0" actId="7634"/>
        <pc:sldMkLst>
          <pc:docMk/>
          <pc:sldMk cId="0" sldId="263"/>
        </pc:sldMkLst>
        <pc:inkChg chg="add">
          <ac:chgData name="Guan Wang" userId="5375c050-d6a4-4212-980e-f548dd476485" providerId="ADAL" clId="{921D813D-5783-C547-AE2E-A855551602D2}" dt="2024-07-23T11:28:48.620" v="0" actId="7634"/>
          <ac:inkMkLst>
            <pc:docMk/>
            <pc:sldMk cId="0" sldId="263"/>
            <ac:inkMk id="2" creationId="{B5BC623B-1745-5A0D-9DCD-3E620416CF78}"/>
          </ac:inkMkLst>
        </pc:inkChg>
      </pc:sldChg>
    </pc:docChg>
  </pc:docChgLst>
  <pc:docChgLst>
    <pc:chgData name="Guan Wang" userId="5375c050-d6a4-4212-980e-f548dd476485" providerId="ADAL" clId="{B1F90429-487E-449B-A062-C21BF70D583B}"/>
    <pc:docChg chg="delSld modSld">
      <pc:chgData name="Guan Wang" userId="5375c050-d6a4-4212-980e-f548dd476485" providerId="ADAL" clId="{B1F90429-487E-449B-A062-C21BF70D583B}" dt="2024-08-05T09:53:02.235" v="4" actId="20577"/>
      <pc:docMkLst>
        <pc:docMk/>
      </pc:docMkLst>
      <pc:sldChg chg="modNotesTx">
        <pc:chgData name="Guan Wang" userId="5375c050-d6a4-4212-980e-f548dd476485" providerId="ADAL" clId="{B1F90429-487E-449B-A062-C21BF70D583B}" dt="2024-08-05T09:53:02.235" v="4" actId="20577"/>
        <pc:sldMkLst>
          <pc:docMk/>
          <pc:sldMk cId="0" sldId="259"/>
        </pc:sldMkLst>
      </pc:sldChg>
      <pc:sldChg chg="modNotesTx">
        <pc:chgData name="Guan Wang" userId="5375c050-d6a4-4212-980e-f548dd476485" providerId="ADAL" clId="{B1F90429-487E-449B-A062-C21BF70D583B}" dt="2024-08-05T09:52:59.317" v="3" actId="20577"/>
        <pc:sldMkLst>
          <pc:docMk/>
          <pc:sldMk cId="0" sldId="260"/>
        </pc:sldMkLst>
      </pc:sldChg>
      <pc:sldChg chg="modNotesTx">
        <pc:chgData name="Guan Wang" userId="5375c050-d6a4-4212-980e-f548dd476485" providerId="ADAL" clId="{B1F90429-487E-449B-A062-C21BF70D583B}" dt="2024-08-05T09:52:53.306" v="2" actId="20577"/>
        <pc:sldMkLst>
          <pc:docMk/>
          <pc:sldMk cId="0" sldId="261"/>
        </pc:sldMkLst>
      </pc:sldChg>
      <pc:sldChg chg="modNotesTx">
        <pc:chgData name="Guan Wang" userId="5375c050-d6a4-4212-980e-f548dd476485" providerId="ADAL" clId="{B1F90429-487E-449B-A062-C21BF70D583B}" dt="2024-08-05T09:52:46.858" v="1" actId="20577"/>
        <pc:sldMkLst>
          <pc:docMk/>
          <pc:sldMk cId="0" sldId="263"/>
        </pc:sldMkLst>
      </pc:sldChg>
      <pc:sldChg chg="del">
        <pc:chgData name="Guan Wang" userId="5375c050-d6a4-4212-980e-f548dd476485" providerId="ADAL" clId="{B1F90429-487E-449B-A062-C21BF70D583B}" dt="2024-08-05T09:52:26.406" v="0" actId="2696"/>
        <pc:sldMkLst>
          <pc:docMk/>
          <pc:sldMk cId="0" sldId="266"/>
        </pc:sldMkLst>
      </pc:sldChg>
      <pc:sldChg chg="del">
        <pc:chgData name="Guan Wang" userId="5375c050-d6a4-4212-980e-f548dd476485" providerId="ADAL" clId="{B1F90429-487E-449B-A062-C21BF70D583B}" dt="2024-08-05T09:52:26.406" v="0" actId="2696"/>
        <pc:sldMkLst>
          <pc:docMk/>
          <pc:sldMk cId="0" sldId="267"/>
        </pc:sldMkLst>
      </pc:sldChg>
      <pc:sldChg chg="del">
        <pc:chgData name="Guan Wang" userId="5375c050-d6a4-4212-980e-f548dd476485" providerId="ADAL" clId="{B1F90429-487E-449B-A062-C21BF70D583B}" dt="2024-08-05T09:52:26.406" v="0" actId="2696"/>
        <pc:sldMkLst>
          <pc:docMk/>
          <pc:sldMk cId="0" sldId="268"/>
        </pc:sldMkLst>
      </pc:sldChg>
    </pc:docChg>
  </pc:docChgLst>
  <pc:docChgLst>
    <pc:chgData name="Guan Wang" userId="5375c050-d6a4-4212-980e-f548dd476485" providerId="ADAL" clId="{754A2851-CEF5-4744-AA13-D3C0EFF0580B}"/>
    <pc:docChg chg="custSel modSld">
      <pc:chgData name="Guan Wang" userId="5375c050-d6a4-4212-980e-f548dd476485" providerId="ADAL" clId="{754A2851-CEF5-4744-AA13-D3C0EFF0580B}" dt="2024-11-19T01:54:51.475" v="4" actId="478"/>
      <pc:docMkLst>
        <pc:docMk/>
      </pc:docMkLst>
      <pc:sldChg chg="delSp mod">
        <pc:chgData name="Guan Wang" userId="5375c050-d6a4-4212-980e-f548dd476485" providerId="ADAL" clId="{754A2851-CEF5-4744-AA13-D3C0EFF0580B}" dt="2024-11-19T01:54:39.809" v="0" actId="478"/>
        <pc:sldMkLst>
          <pc:docMk/>
          <pc:sldMk cId="0" sldId="259"/>
        </pc:sldMkLst>
        <pc:inkChg chg="del">
          <ac:chgData name="Guan Wang" userId="5375c050-d6a4-4212-980e-f548dd476485" providerId="ADAL" clId="{754A2851-CEF5-4744-AA13-D3C0EFF0580B}" dt="2024-11-19T01:54:39.809" v="0" actId="478"/>
          <ac:inkMkLst>
            <pc:docMk/>
            <pc:sldMk cId="0" sldId="259"/>
            <ac:inkMk id="2" creationId="{E6122CCF-8248-C402-BAF9-6CF538B59F07}"/>
          </ac:inkMkLst>
        </pc:inkChg>
      </pc:sldChg>
      <pc:sldChg chg="delSp mod">
        <pc:chgData name="Guan Wang" userId="5375c050-d6a4-4212-980e-f548dd476485" providerId="ADAL" clId="{754A2851-CEF5-4744-AA13-D3C0EFF0580B}" dt="2024-11-19T01:54:43.342" v="1" actId="478"/>
        <pc:sldMkLst>
          <pc:docMk/>
          <pc:sldMk cId="0" sldId="260"/>
        </pc:sldMkLst>
        <pc:inkChg chg="del">
          <ac:chgData name="Guan Wang" userId="5375c050-d6a4-4212-980e-f548dd476485" providerId="ADAL" clId="{754A2851-CEF5-4744-AA13-D3C0EFF0580B}" dt="2024-11-19T01:54:43.342" v="1" actId="478"/>
          <ac:inkMkLst>
            <pc:docMk/>
            <pc:sldMk cId="0" sldId="260"/>
            <ac:inkMk id="2" creationId="{77F26306-5650-0449-0DD6-738404C4A2DE}"/>
          </ac:inkMkLst>
        </pc:inkChg>
      </pc:sldChg>
      <pc:sldChg chg="delSp mod">
        <pc:chgData name="Guan Wang" userId="5375c050-d6a4-4212-980e-f548dd476485" providerId="ADAL" clId="{754A2851-CEF5-4744-AA13-D3C0EFF0580B}" dt="2024-11-19T01:54:46.015" v="2" actId="478"/>
        <pc:sldMkLst>
          <pc:docMk/>
          <pc:sldMk cId="0" sldId="261"/>
        </pc:sldMkLst>
        <pc:inkChg chg="del">
          <ac:chgData name="Guan Wang" userId="5375c050-d6a4-4212-980e-f548dd476485" providerId="ADAL" clId="{754A2851-CEF5-4744-AA13-D3C0EFF0580B}" dt="2024-11-19T01:54:46.015" v="2" actId="478"/>
          <ac:inkMkLst>
            <pc:docMk/>
            <pc:sldMk cId="0" sldId="261"/>
            <ac:inkMk id="2" creationId="{D2E70082-CF60-A059-38D6-D534FB60C8F6}"/>
          </ac:inkMkLst>
        </pc:inkChg>
      </pc:sldChg>
      <pc:sldChg chg="delSp mod">
        <pc:chgData name="Guan Wang" userId="5375c050-d6a4-4212-980e-f548dd476485" providerId="ADAL" clId="{754A2851-CEF5-4744-AA13-D3C0EFF0580B}" dt="2024-11-19T01:54:48.668" v="3" actId="478"/>
        <pc:sldMkLst>
          <pc:docMk/>
          <pc:sldMk cId="0" sldId="262"/>
        </pc:sldMkLst>
        <pc:inkChg chg="del">
          <ac:chgData name="Guan Wang" userId="5375c050-d6a4-4212-980e-f548dd476485" providerId="ADAL" clId="{754A2851-CEF5-4744-AA13-D3C0EFF0580B}" dt="2024-11-19T01:54:48.668" v="3" actId="478"/>
          <ac:inkMkLst>
            <pc:docMk/>
            <pc:sldMk cId="0" sldId="262"/>
            <ac:inkMk id="2" creationId="{8CFBE541-D4EA-8FB1-3FCB-52D9AD639B10}"/>
          </ac:inkMkLst>
        </pc:inkChg>
      </pc:sldChg>
      <pc:sldChg chg="delSp mod">
        <pc:chgData name="Guan Wang" userId="5375c050-d6a4-4212-980e-f548dd476485" providerId="ADAL" clId="{754A2851-CEF5-4744-AA13-D3C0EFF0580B}" dt="2024-11-19T01:54:51.475" v="4" actId="478"/>
        <pc:sldMkLst>
          <pc:docMk/>
          <pc:sldMk cId="0" sldId="263"/>
        </pc:sldMkLst>
        <pc:inkChg chg="del">
          <ac:chgData name="Guan Wang" userId="5375c050-d6a4-4212-980e-f548dd476485" providerId="ADAL" clId="{754A2851-CEF5-4744-AA13-D3C0EFF0580B}" dt="2024-11-19T01:54:51.475" v="4" actId="478"/>
          <ac:inkMkLst>
            <pc:docMk/>
            <pc:sldMk cId="0" sldId="263"/>
            <ac:inkMk id="2" creationId="{B5BC623B-1745-5A0D-9DCD-3E620416CF78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Make sure how familiar they are with Python?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ca4f9854a4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ca4f9854a4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ca4f9854a4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ca4f9854a4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a4f9854a4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ca4f9854a4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a4f9854a4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ca4f9854a4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ca4f9854a4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ca4f9854a4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ca4f9854a4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ca4f9854a4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a4f9854a4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ca4f9854a4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ca4f9854a4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ca4f9854a4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ca4f9854a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ca4f9854a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Analytics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Yoobee Colleges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data analytics?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Data analytics</a:t>
            </a:r>
            <a:r>
              <a:rPr lang="en" sz="1350" b="1" i="1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is an important field that involves the process of </a:t>
            </a: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collecting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processing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, and </a:t>
            </a: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interpreting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data to uncover </a:t>
            </a: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insights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and help in </a:t>
            </a: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making decisions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. 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Data analytics is the practice of examining raw data to </a:t>
            </a: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identify trends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draw conclusions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, and </a:t>
            </a: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extract meaningful information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. 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This involves various techniques and tools to process and transform data into valuable insights that can be used for decision-making.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000"/>
              </a:spcBef>
              <a:spcAft>
                <a:spcPts val="1200"/>
              </a:spcAft>
              <a:buNone/>
            </a:pP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Analytics vs Data Science</a:t>
            </a:r>
            <a:endParaRPr/>
          </a:p>
        </p:txBody>
      </p:sp>
      <p:graphicFrame>
        <p:nvGraphicFramePr>
          <p:cNvPr id="79" name="Google Shape;79;p15"/>
          <p:cNvGraphicFramePr/>
          <p:nvPr/>
        </p:nvGraphicFramePr>
        <p:xfrm>
          <a:off x="1267475" y="1507025"/>
          <a:ext cx="6609050" cy="2760739"/>
        </p:xfrm>
        <a:graphic>
          <a:graphicData uri="http://schemas.openxmlformats.org/drawingml/2006/table">
            <a:tbl>
              <a:tblPr>
                <a:noFill/>
                <a:tableStyleId>{F4E6A2A6-408F-4158-B411-5363B396C079}</a:tableStyleId>
              </a:tblPr>
              <a:tblGrid>
                <a:gridCol w="330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accen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Data Analytics</a:t>
                      </a:r>
                      <a:endParaRPr sz="18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accen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Data Science</a:t>
                      </a:r>
                      <a:endParaRPr sz="18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Analyst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Scientist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Higher level tools (Excel, Tableau, PowerBI, etc.)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Lower level tools (Programming Languages, Database Systems)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Skills of tools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Knowledge of theories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Medium level of Statistics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 level of Statistics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Well-paid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Higher paid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Data Analytics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441100" y="1682100"/>
            <a:ext cx="1794300" cy="6279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Descriptive Analytics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036350" y="1682100"/>
            <a:ext cx="1794300" cy="6279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Diagnostic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Analytics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629325" y="1682088"/>
            <a:ext cx="1794300" cy="6279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Predictive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Analytics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5241400" y="1682100"/>
            <a:ext cx="1794300" cy="6279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Prescriptive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Analytics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817550" y="1682100"/>
            <a:ext cx="1794300" cy="6279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Cognitive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Analytics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665350" y="3132450"/>
            <a:ext cx="1345800" cy="107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Deals with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What</a:t>
            </a: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happened in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the past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2260600" y="3132450"/>
            <a:ext cx="1345800" cy="107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Deals with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Why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 happened in the past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3899100" y="3132450"/>
            <a:ext cx="1345800" cy="107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Deals with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What Will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happen in the future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5470450" y="3132450"/>
            <a:ext cx="1345800" cy="107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Deals with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How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to make it happen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7041800" y="3132450"/>
            <a:ext cx="1441500" cy="107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Deals with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Artificial Intelligence</a:t>
            </a:r>
            <a:endParaRPr sz="16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270900" y="2474550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2866150" y="2474550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495050" y="2474550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071200" y="2474550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7647350" y="2474550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Descriptive Analytics</a:t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311700" y="1633516"/>
            <a:ext cx="1794300" cy="6279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Descriptive Analytics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535950" y="3083866"/>
            <a:ext cx="1345800" cy="107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Deals with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What</a:t>
            </a: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happened in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the past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1141500" y="2425966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2450925" y="1268550"/>
            <a:ext cx="6381300" cy="27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26A70"/>
                </a:solidFill>
                <a:latin typeface="Arial"/>
                <a:ea typeface="Arial"/>
                <a:cs typeface="Arial"/>
                <a:sym typeface="Arial"/>
              </a:rPr>
              <a:t>There are </a:t>
            </a:r>
            <a:r>
              <a:rPr lang="en" sz="1600" u="sng">
                <a:solidFill>
                  <a:srgbClr val="626A70"/>
                </a:solidFill>
                <a:latin typeface="Arial"/>
                <a:ea typeface="Arial"/>
                <a:cs typeface="Arial"/>
                <a:sym typeface="Arial"/>
              </a:rPr>
              <a:t>two main techniques </a:t>
            </a:r>
            <a:r>
              <a:rPr lang="en" sz="1600">
                <a:solidFill>
                  <a:srgbClr val="626A70"/>
                </a:solidFill>
                <a:latin typeface="Arial"/>
                <a:ea typeface="Arial"/>
                <a:cs typeface="Arial"/>
                <a:sym typeface="Arial"/>
              </a:rPr>
              <a:t>used in descriptive analytics:</a:t>
            </a:r>
            <a:endParaRPr sz="1600">
              <a:solidFill>
                <a:srgbClr val="626A7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Clr>
                <a:srgbClr val="626A7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626A70"/>
                </a:solidFill>
                <a:latin typeface="Arial"/>
                <a:ea typeface="Arial"/>
                <a:cs typeface="Arial"/>
                <a:sym typeface="Arial"/>
              </a:rPr>
              <a:t>Data aggregation: Data aggregation is the process of gathering data and presenting it in a summarized format.</a:t>
            </a:r>
            <a:endParaRPr sz="1600">
              <a:solidFill>
                <a:srgbClr val="626A7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Clr>
                <a:srgbClr val="626A7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626A70"/>
                </a:solidFill>
                <a:latin typeface="Arial"/>
                <a:ea typeface="Arial"/>
                <a:cs typeface="Arial"/>
                <a:sym typeface="Arial"/>
              </a:rPr>
              <a:t>Data mining: Data mining is the analysis part. This is when the analyst explores the data in order to uncover any patterns or trends.The outcome of descriptive analysis is a visual representation of the data—as a </a:t>
            </a:r>
            <a:r>
              <a:rPr lang="en" sz="1600" b="1">
                <a:solidFill>
                  <a:srgbClr val="626A70"/>
                </a:solidFill>
                <a:latin typeface="Arial"/>
                <a:ea typeface="Arial"/>
                <a:cs typeface="Arial"/>
                <a:sym typeface="Arial"/>
              </a:rPr>
              <a:t>bar graph</a:t>
            </a:r>
            <a:r>
              <a:rPr lang="en" sz="1600">
                <a:solidFill>
                  <a:srgbClr val="626A70"/>
                </a:solidFill>
                <a:latin typeface="Arial"/>
                <a:ea typeface="Arial"/>
                <a:cs typeface="Arial"/>
                <a:sym typeface="Arial"/>
              </a:rPr>
              <a:t>, or a </a:t>
            </a:r>
            <a:r>
              <a:rPr lang="en" sz="1600" b="1">
                <a:solidFill>
                  <a:srgbClr val="626A70"/>
                </a:solidFill>
                <a:latin typeface="Arial"/>
                <a:ea typeface="Arial"/>
                <a:cs typeface="Arial"/>
                <a:sym typeface="Arial"/>
              </a:rPr>
              <a:t>pie chart</a:t>
            </a:r>
            <a:r>
              <a:rPr lang="en" sz="1600">
                <a:solidFill>
                  <a:srgbClr val="626A7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rgbClr val="626A7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1550" y="3555575"/>
            <a:ext cx="2724725" cy="130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4194200" y="3866250"/>
            <a:ext cx="854388" cy="946728"/>
          </a:xfrm>
          <a:prstGeom prst="flowChartMultidocument">
            <a:avLst/>
          </a:prstGeom>
          <a:solidFill>
            <a:schemeClr val="lt1"/>
          </a:solidFill>
          <a:ln w="9525" cap="flat" cmpd="sng">
            <a:solidFill>
              <a:srgbClr val="2732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—-—-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—-—-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—-—-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178025" y="4245975"/>
            <a:ext cx="533400" cy="2244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00D896"/>
              </a:gs>
              <a:gs pos="100000">
                <a:srgbClr val="04523A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D0E0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Diagnostic Analytics</a:t>
            </a: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2265475" y="1342525"/>
            <a:ext cx="6596700" cy="3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provides deeper insights into why specific events, outcomes or behaviours occurred. It aims to reveal the causes that lead to the results.</a:t>
            </a:r>
            <a:endParaRPr/>
          </a:p>
          <a:p>
            <a:pPr marL="457200" lvl="0" indent="-317182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Define the problem: Clearly define the problem you want to investigate</a:t>
            </a:r>
            <a:endParaRPr/>
          </a:p>
          <a:p>
            <a:pPr marL="457200" lvl="0" indent="-317182" algn="l" rtl="0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collection: Collect relevant historical data related to the problem</a:t>
            </a:r>
            <a:endParaRPr/>
          </a:p>
          <a:p>
            <a:pPr marL="457200" lvl="0" indent="-317182" algn="l" rtl="0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preprocessing: Clean the data to ensure the quality and reliability</a:t>
            </a:r>
            <a:endParaRPr/>
          </a:p>
          <a:p>
            <a:pPr marL="457200" lvl="0" indent="-317182" algn="l" rtl="0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Statistical analysis: Perform relevant tests</a:t>
            </a:r>
            <a:endParaRPr/>
          </a:p>
          <a:p>
            <a:pPr marL="457200" lvl="0" indent="-317182" algn="l" rtl="0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visualization: Visualize them to clearly identify their relationships</a:t>
            </a:r>
            <a:endParaRPr/>
          </a:p>
          <a:p>
            <a:pPr marL="457200" lvl="0" indent="-317182" algn="l" rtl="0"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lang="en"/>
              <a:t>Anomaly detection: Identify unusual or unexpected patterns in the data</a:t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311700" y="1653850"/>
            <a:ext cx="1794300" cy="6279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Diagnostic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Analytics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535950" y="3104200"/>
            <a:ext cx="1345800" cy="107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Deals with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Why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 happened in the past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1141500" y="2446300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Analytics</a:t>
            </a:r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2667450" y="1266325"/>
            <a:ext cx="6165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Predictive analytics seeks to predict what is likely to happen in the future. 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Based on past patterns and trends, data analysts can utilize predictive models which estimate the likelihood of a future event or outcome. 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/>
              <a:t>Machine learning algorithms</a:t>
            </a:r>
            <a:r>
              <a:rPr lang="en" sz="1700"/>
              <a:t> can be helpful in predictive analysis.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311700" y="1653838"/>
            <a:ext cx="1794300" cy="6279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Predictive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Analytics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81475" y="3104200"/>
            <a:ext cx="1345800" cy="107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Deals with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What Will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happen in the future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1177425" y="2446300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Prescriptive Analytics</a:t>
            </a:r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body" idx="1"/>
          </p:nvPr>
        </p:nvSpPr>
        <p:spPr>
          <a:xfrm>
            <a:off x="2781775" y="1266325"/>
            <a:ext cx="6050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Prescriptive analytics goes beyond what has happened, why it happened, and what might happen in order to determine what should be done next.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Prescriptive models are used to calculate all the possible “routes” a company might take to reach their goals in order to determine the best possible option.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311700" y="1653850"/>
            <a:ext cx="1794300" cy="6279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Prescriptive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Analytics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540750" y="3104200"/>
            <a:ext cx="1345800" cy="107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Deals with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How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to make it happen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1141500" y="2446300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Analytics</a:t>
            </a:r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body" idx="1"/>
          </p:nvPr>
        </p:nvSpPr>
        <p:spPr>
          <a:xfrm>
            <a:off x="2436400" y="1283575"/>
            <a:ext cx="6534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400"/>
              <a:t>Cognitive Analytics combines Artificial Intelligence and Data Analytics to learn from the data and extract the hidden patterns from data. It brings all the data sources. </a:t>
            </a:r>
            <a:endParaRPr sz="14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400"/>
              <a:t>This data comes from everywhere: sensors used to gather climate information, posts to social media platforms, voices, images and videos, purchase transaction records, and mobile phone GPS signals, etc.</a:t>
            </a:r>
            <a:endParaRPr sz="14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400"/>
              <a:t>How does Cognitive Analytics work?</a:t>
            </a:r>
            <a:endParaRPr sz="1400"/>
          </a:p>
          <a:p>
            <a:pPr marL="457200" lvl="0" indent="-3175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Understanding natural language and human interactions.</a:t>
            </a:r>
            <a:endParaRPr sz="1400"/>
          </a:p>
          <a:p>
            <a:pPr marL="457200" lvl="0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Generating and evaluating the Evidence-based hypothesis.</a:t>
            </a:r>
            <a:endParaRPr sz="1400"/>
          </a:p>
          <a:p>
            <a:pPr marL="457200" lvl="0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Adapting and learning from user selections and responses.</a:t>
            </a:r>
            <a:endParaRPr sz="14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400"/>
          </a:p>
        </p:txBody>
      </p:sp>
      <p:sp>
        <p:nvSpPr>
          <p:cNvPr id="145" name="Google Shape;145;p21"/>
          <p:cNvSpPr/>
          <p:nvPr/>
        </p:nvSpPr>
        <p:spPr>
          <a:xfrm>
            <a:off x="311700" y="1671100"/>
            <a:ext cx="1794300" cy="6279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Cognitive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Analytics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535950" y="3121450"/>
            <a:ext cx="1441500" cy="107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Deals with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Artificial Intelligence</a:t>
            </a:r>
            <a:endParaRPr sz="16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1141500" y="2463550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</a:t>
            </a:r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body" idx="1"/>
          </p:nvPr>
        </p:nvSpPr>
        <p:spPr>
          <a:xfrm>
            <a:off x="311700" y="1266324"/>
            <a:ext cx="8520600" cy="36436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Pre-processing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" sz="1600" dirty="0"/>
              <a:t>Python (</a:t>
            </a:r>
            <a:r>
              <a:rPr lang="en" altLang="zh-CN" sz="1600" dirty="0"/>
              <a:t>Numpy, Pandas, etc.</a:t>
            </a:r>
            <a:r>
              <a:rPr lang="en" sz="1600" dirty="0"/>
              <a:t>)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" sz="1600" dirty="0"/>
              <a:t>R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visualization</a:t>
            </a:r>
            <a:endParaRPr dirty="0"/>
          </a:p>
          <a:p>
            <a:pPr marL="4572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600" dirty="0"/>
              <a:t>Tableau (</a:t>
            </a:r>
            <a:r>
              <a:rPr lang="en-US" sz="1600"/>
              <a:t>https://www.tableau.com/</a:t>
            </a:r>
            <a:r>
              <a:rPr lang="en" sz="1600"/>
              <a:t>)</a:t>
            </a:r>
            <a:endParaRPr lang="en" sz="1600" dirty="0"/>
          </a:p>
          <a:p>
            <a:pPr marL="4572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600" dirty="0"/>
              <a:t>Python (Matplotlib, Seaborn, Plotly and Cufflinks, etc.)</a:t>
            </a:r>
          </a:p>
          <a:p>
            <a:pPr marL="4572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US" sz="1600" dirty="0"/>
              <a:t>R</a:t>
            </a:r>
            <a:endParaRPr sz="1600" dirty="0"/>
          </a:p>
          <a:p>
            <a:pPr marL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Machine Learning Algorithms</a:t>
            </a:r>
            <a:endParaRPr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" sz="1600" dirty="0"/>
              <a:t>Linear Regression, Logical Regression, K-means, SVM (support vector machine), Decision Tree, MLP (Multilayer Perceptron)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600" dirty="0"/>
              <a:t>Deep Learning algorithms (Deep Neural Networks,  Transformer, etc.)</a:t>
            </a:r>
            <a:endParaRPr sz="1600" dirty="0"/>
          </a:p>
          <a:p>
            <a:pPr marL="0" lvl="0" indent="0" algn="l" rtl="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Big data and Spark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687</Words>
  <Application>Microsoft Office PowerPoint</Application>
  <PresentationFormat>On-screen Show (16:9)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Open Sans</vt:lpstr>
      <vt:lpstr>PT Sans Narrow</vt:lpstr>
      <vt:lpstr>Arial</vt:lpstr>
      <vt:lpstr>Nunito</vt:lpstr>
      <vt:lpstr>Tropic</vt:lpstr>
      <vt:lpstr>Data Analytics</vt:lpstr>
      <vt:lpstr>What is data analytics?</vt:lpstr>
      <vt:lpstr>Data Analytics vs Data Science</vt:lpstr>
      <vt:lpstr>Types of Data Analytics</vt:lpstr>
      <vt:lpstr>Descriptive Analytics</vt:lpstr>
      <vt:lpstr>Diagnostic Analytics</vt:lpstr>
      <vt:lpstr>Predictive Analytics</vt:lpstr>
      <vt:lpstr>Prescriptive Analytics</vt:lpstr>
      <vt:lpstr>Cognitive Analytics</vt:lpstr>
      <vt:lpstr>Technologies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</dc:title>
  <cp:lastModifiedBy>Mohammad Norouzifard</cp:lastModifiedBy>
  <cp:revision>7</cp:revision>
  <dcterms:modified xsi:type="dcterms:W3CDTF">2026-03-30T06:32:37Z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2024-07-22T08:48:26Z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aa9e2136-5d4e-45c3-8208-ddd04fedac6f</vt:lpwstr>
  </property>
  <property fmtid="{D5CDD505-2E9C-101B-9397-08002B2CF9AE}" pid="8" name="MSIP_Label_c96ed6d7-747c-41fd-b042-ff14484edc24_ContentBits">
    <vt:lpwstr>0</vt:lpwstr>
  </property>
</Properties>
</file>