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dataset contains 545 houses and 13 columns. The main question is simple: why are some houses much more expensive than others? The median price is 4.34 million, while the average is 4.77 million. Because the average is higher than the median, the dataset has some expensive houses pulling the average upward.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houses are grouped around the middle price range. The histogram shows many homes between about 3 million and 6 million. A smaller number of high-priced houses sit above that range, reaching up to 13.30 million. This tells us the story is not only about the average price. We also need to understand what separates the high-end homes.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clearest numeric relationship is area. When the houses are split into four area groups, the average price rises from 3.54 million in the smallest group to 6.22 million in the largest group. This suggests that bigger homes are usually valued higher, and area should be one of the first variables to consider in any deeper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Size is not the only part of the story. Houses with air conditioning, main road access, a preferred area, or a guest room have higher average prices than houses without those features. Air conditioning has the biggest simple difference, about 1.82 million. Main road access and preferred area are also strong. These are descriptive differences, so they show patterns, not guaranteed causes.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initial story is that housing price is shaped by three ideas: space, comfort, and location access. Larger houses tend to cost more. Comfort features make a house more attractive. Location features such as main road access and preferred area also lift the average price. The next step would be to build a regression model to test these drivers together and check which features still matter when the others are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C"/>
          </a:solidFill>
          <a:ln w="12700">
            <a:solidFill>
              <a:srgbClr val="F7FAFC"/>
            </a:solidFill>
            <a:prstDash val="solid"/>
          </a:ln>
        </p:spPr>
      </p:sp>
      <p:sp>
        <p:nvSpPr>
          <p:cNvPr id="3" name="Shape 1"/>
          <p:cNvSpPr/>
          <p:nvPr/>
        </p:nvSpPr>
        <p:spPr>
          <a:xfrm>
            <a:off x="0" y="0"/>
            <a:ext cx="164592" cy="6858000"/>
          </a:xfrm>
          <a:prstGeom prst="rect">
            <a:avLst/>
          </a:prstGeom>
          <a:solidFill>
            <a:srgbClr val="4C78A8"/>
          </a:solidFill>
          <a:ln w="12700">
            <a:solidFill>
              <a:srgbClr val="4C78A8"/>
            </a:solidFill>
            <a:prstDash val="solid"/>
          </a:ln>
        </p:spPr>
      </p:sp>
      <p:sp>
        <p:nvSpPr>
          <p:cNvPr id="4" name="Text 2"/>
          <p:cNvSpPr/>
          <p:nvPr/>
        </p:nvSpPr>
        <p:spPr>
          <a:xfrm>
            <a:off x="685800" y="658368"/>
            <a:ext cx="7680960" cy="502920"/>
          </a:xfrm>
          <a:prstGeom prst="rect">
            <a:avLst/>
          </a:prstGeom>
          <a:noFill/>
          <a:ln/>
        </p:spPr>
        <p:txBody>
          <a:bodyPr wrap="square" lIns="0" tIns="0" rIns="0" bIns="0" rtlCol="0" anchor="t">
            <a:normAutofit/>
          </a:bodyPr>
          <a:lstStyle/>
          <a:p>
            <a:pPr algn="l" indent="0" marL="0">
              <a:buNone/>
            </a:pPr>
            <a:r>
              <a:rPr lang="en-US" sz="2700" b="1" dirty="0">
                <a:solidFill>
                  <a:srgbClr val="1F2933"/>
                </a:solidFill>
                <a:latin typeface="Arial" pitchFamily="34" charset="0"/>
                <a:ea typeface="Arial" pitchFamily="34" charset="-122"/>
                <a:cs typeface="Arial" pitchFamily="34" charset="-120"/>
              </a:rPr>
              <a:t>Housing Prices Dataset</a:t>
            </a:r>
            <a:endParaRPr lang="en-US" sz="2700" dirty="0"/>
          </a:p>
        </p:txBody>
      </p:sp>
      <p:sp>
        <p:nvSpPr>
          <p:cNvPr id="5" name="Text 3"/>
          <p:cNvSpPr/>
          <p:nvPr/>
        </p:nvSpPr>
        <p:spPr>
          <a:xfrm>
            <a:off x="685800" y="1234440"/>
            <a:ext cx="8869680" cy="384048"/>
          </a:xfrm>
          <a:prstGeom prst="rect">
            <a:avLst/>
          </a:prstGeom>
          <a:noFill/>
          <a:ln/>
        </p:spPr>
        <p:txBody>
          <a:bodyPr wrap="square" lIns="0" tIns="0" rIns="0" bIns="0" rtlCol="0" anchor="t">
            <a:normAutofit/>
          </a:bodyPr>
          <a:lstStyle/>
          <a:p>
            <a:pPr algn="l" indent="0" marL="0">
              <a:buNone/>
            </a:pPr>
            <a:r>
              <a:rPr lang="en-US" sz="1650" dirty="0">
                <a:solidFill>
                  <a:srgbClr val="52606D"/>
                </a:solidFill>
                <a:latin typeface="Arial" pitchFamily="34" charset="0"/>
                <a:ea typeface="Arial" pitchFamily="34" charset="-122"/>
                <a:cs typeface="Arial" pitchFamily="34" charset="-120"/>
              </a:rPr>
              <a:t>An initial 3-minute story about what seems to drive house prices</a:t>
            </a:r>
            <a:endParaRPr lang="en-US" sz="1650" dirty="0"/>
          </a:p>
        </p:txBody>
      </p:sp>
      <p:sp>
        <p:nvSpPr>
          <p:cNvPr id="6" name="Text 4"/>
          <p:cNvSpPr/>
          <p:nvPr/>
        </p:nvSpPr>
        <p:spPr>
          <a:xfrm>
            <a:off x="685800" y="1984248"/>
            <a:ext cx="1828800" cy="320040"/>
          </a:xfrm>
          <a:prstGeom prst="rect">
            <a:avLst/>
          </a:prstGeom>
          <a:noFill/>
          <a:ln/>
        </p:spPr>
        <p:txBody>
          <a:bodyPr wrap="square" lIns="0" tIns="0" rIns="0" bIns="0" rtlCol="0" anchor="t">
            <a:normAutofit/>
          </a:bodyPr>
          <a:lstStyle/>
          <a:p>
            <a:pPr algn="l" indent="0" marL="0">
              <a:buNone/>
            </a:pPr>
            <a:r>
              <a:rPr lang="en-US" sz="1400" b="1" dirty="0">
                <a:solidFill>
                  <a:srgbClr val="4C78A8"/>
                </a:solidFill>
                <a:latin typeface="Arial" pitchFamily="34" charset="0"/>
                <a:ea typeface="Arial" pitchFamily="34" charset="-122"/>
                <a:cs typeface="Arial" pitchFamily="34" charset="-120"/>
              </a:rPr>
              <a:t>The question</a:t>
            </a:r>
            <a:endParaRPr lang="en-US" sz="1400" dirty="0"/>
          </a:p>
        </p:txBody>
      </p:sp>
      <p:sp>
        <p:nvSpPr>
          <p:cNvPr id="7" name="Text 5"/>
          <p:cNvSpPr/>
          <p:nvPr/>
        </p:nvSpPr>
        <p:spPr>
          <a:xfrm>
            <a:off x="685800" y="2359152"/>
            <a:ext cx="5852160" cy="777240"/>
          </a:xfrm>
          <a:prstGeom prst="rect">
            <a:avLst/>
          </a:prstGeom>
          <a:noFill/>
          <a:ln/>
        </p:spPr>
        <p:txBody>
          <a:bodyPr wrap="square" lIns="0" tIns="0" rIns="0" bIns="0" rtlCol="0" anchor="t">
            <a:normAutofit/>
          </a:bodyPr>
          <a:lstStyle/>
          <a:p>
            <a:pPr algn="l" indent="0" marL="0">
              <a:buNone/>
            </a:pPr>
            <a:r>
              <a:rPr lang="en-US" sz="2600" b="1" dirty="0">
                <a:solidFill>
                  <a:srgbClr val="1F2933"/>
                </a:solidFill>
                <a:latin typeface="Arial" pitchFamily="34" charset="0"/>
                <a:ea typeface="Arial" pitchFamily="34" charset="-122"/>
                <a:cs typeface="Arial" pitchFamily="34" charset="-120"/>
              </a:rPr>
              <a:t>Why are some houses much more expensive than others?</a:t>
            </a:r>
            <a:endParaRPr lang="en-US" sz="2600" dirty="0"/>
          </a:p>
        </p:txBody>
      </p:sp>
      <p:sp>
        <p:nvSpPr>
          <p:cNvPr id="8" name="Shape 6"/>
          <p:cNvSpPr/>
          <p:nvPr/>
        </p:nvSpPr>
        <p:spPr>
          <a:xfrm>
            <a:off x="685800" y="3794760"/>
            <a:ext cx="2514600" cy="960120"/>
          </a:xfrm>
          <a:prstGeom prst="roundRect">
            <a:avLst>
              <a:gd name="adj" fmla="val 7619"/>
            </a:avLst>
          </a:prstGeom>
          <a:solidFill>
            <a:srgbClr val="FFFFFF"/>
          </a:solidFill>
          <a:ln w="12700">
            <a:solidFill>
              <a:srgbClr val="D9E2EC"/>
            </a:solidFill>
            <a:prstDash val="solid"/>
          </a:ln>
        </p:spPr>
      </p:sp>
      <p:sp>
        <p:nvSpPr>
          <p:cNvPr id="9" name="Text 7"/>
          <p:cNvSpPr/>
          <p:nvPr/>
        </p:nvSpPr>
        <p:spPr>
          <a:xfrm>
            <a:off x="850392" y="3959352"/>
            <a:ext cx="2185416" cy="292608"/>
          </a:xfrm>
          <a:prstGeom prst="rect">
            <a:avLst/>
          </a:prstGeom>
          <a:noFill/>
          <a:ln/>
        </p:spPr>
        <p:txBody>
          <a:bodyPr wrap="square" lIns="0" tIns="0" rIns="0" bIns="0" rtlCol="0" anchor="t">
            <a:normAutofit/>
          </a:bodyPr>
          <a:lstStyle/>
          <a:p>
            <a:pPr algn="l" indent="0" marL="0">
              <a:buNone/>
            </a:pPr>
            <a:r>
              <a:rPr lang="en-US" sz="2200" b="1" dirty="0">
                <a:solidFill>
                  <a:srgbClr val="4C78A8"/>
                </a:solidFill>
                <a:latin typeface="Arial" pitchFamily="34" charset="0"/>
                <a:ea typeface="Arial" pitchFamily="34" charset="-122"/>
                <a:cs typeface="Arial" pitchFamily="34" charset="-120"/>
              </a:rPr>
              <a:t>545</a:t>
            </a:r>
            <a:endParaRPr lang="en-US" sz="2200" dirty="0"/>
          </a:p>
        </p:txBody>
      </p:sp>
      <p:sp>
        <p:nvSpPr>
          <p:cNvPr id="10" name="Text 8"/>
          <p:cNvSpPr/>
          <p:nvPr/>
        </p:nvSpPr>
        <p:spPr>
          <a:xfrm>
            <a:off x="850392" y="4361688"/>
            <a:ext cx="2185416" cy="201168"/>
          </a:xfrm>
          <a:prstGeom prst="rect">
            <a:avLst/>
          </a:prstGeom>
          <a:noFill/>
          <a:ln/>
        </p:spPr>
        <p:txBody>
          <a:bodyPr wrap="square" lIns="0" tIns="0" rIns="0" bIns="0" rtlCol="0" anchor="t">
            <a:normAutofit/>
          </a:bodyPr>
          <a:lstStyle/>
          <a:p>
            <a:pPr algn="l" indent="0" marL="0">
              <a:buNone/>
            </a:pPr>
            <a:r>
              <a:rPr lang="en-US" sz="1050" dirty="0">
                <a:solidFill>
                  <a:srgbClr val="52606D"/>
                </a:solidFill>
                <a:latin typeface="Arial" pitchFamily="34" charset="0"/>
                <a:ea typeface="Arial" pitchFamily="34" charset="-122"/>
                <a:cs typeface="Arial" pitchFamily="34" charset="-120"/>
              </a:rPr>
              <a:t>houses in the dataset</a:t>
            </a:r>
            <a:endParaRPr lang="en-US" sz="1050" dirty="0"/>
          </a:p>
        </p:txBody>
      </p:sp>
      <p:sp>
        <p:nvSpPr>
          <p:cNvPr id="11" name="Shape 9"/>
          <p:cNvSpPr/>
          <p:nvPr/>
        </p:nvSpPr>
        <p:spPr>
          <a:xfrm>
            <a:off x="3456432" y="3794760"/>
            <a:ext cx="2514600" cy="960120"/>
          </a:xfrm>
          <a:prstGeom prst="roundRect">
            <a:avLst>
              <a:gd name="adj" fmla="val 7619"/>
            </a:avLst>
          </a:prstGeom>
          <a:solidFill>
            <a:srgbClr val="FFFFFF"/>
          </a:solidFill>
          <a:ln w="12700">
            <a:solidFill>
              <a:srgbClr val="D9E2EC"/>
            </a:solidFill>
            <a:prstDash val="solid"/>
          </a:ln>
        </p:spPr>
      </p:sp>
      <p:sp>
        <p:nvSpPr>
          <p:cNvPr id="12" name="Text 10"/>
          <p:cNvSpPr/>
          <p:nvPr/>
        </p:nvSpPr>
        <p:spPr>
          <a:xfrm>
            <a:off x="3621024" y="3959352"/>
            <a:ext cx="2185416" cy="292608"/>
          </a:xfrm>
          <a:prstGeom prst="rect">
            <a:avLst/>
          </a:prstGeom>
          <a:noFill/>
          <a:ln/>
        </p:spPr>
        <p:txBody>
          <a:bodyPr wrap="square" lIns="0" tIns="0" rIns="0" bIns="0" rtlCol="0" anchor="t">
            <a:normAutofit/>
          </a:bodyPr>
          <a:lstStyle/>
          <a:p>
            <a:pPr algn="l" indent="0" marL="0">
              <a:buNone/>
            </a:pPr>
            <a:r>
              <a:rPr lang="en-US" sz="2200" b="1" dirty="0">
                <a:solidFill>
                  <a:srgbClr val="72B7B2"/>
                </a:solidFill>
                <a:latin typeface="Arial" pitchFamily="34" charset="0"/>
                <a:ea typeface="Arial" pitchFamily="34" charset="-122"/>
                <a:cs typeface="Arial" pitchFamily="34" charset="-120"/>
              </a:rPr>
              <a:t>13</a:t>
            </a:r>
            <a:endParaRPr lang="en-US" sz="2200" dirty="0"/>
          </a:p>
        </p:txBody>
      </p:sp>
      <p:sp>
        <p:nvSpPr>
          <p:cNvPr id="13" name="Text 11"/>
          <p:cNvSpPr/>
          <p:nvPr/>
        </p:nvSpPr>
        <p:spPr>
          <a:xfrm>
            <a:off x="3621024" y="4361688"/>
            <a:ext cx="2185416" cy="201168"/>
          </a:xfrm>
          <a:prstGeom prst="rect">
            <a:avLst/>
          </a:prstGeom>
          <a:noFill/>
          <a:ln/>
        </p:spPr>
        <p:txBody>
          <a:bodyPr wrap="square" lIns="0" tIns="0" rIns="0" bIns="0" rtlCol="0" anchor="t">
            <a:normAutofit/>
          </a:bodyPr>
          <a:lstStyle/>
          <a:p>
            <a:pPr algn="l" indent="0" marL="0">
              <a:buNone/>
            </a:pPr>
            <a:r>
              <a:rPr lang="en-US" sz="1050" dirty="0">
                <a:solidFill>
                  <a:srgbClr val="52606D"/>
                </a:solidFill>
                <a:latin typeface="Arial" pitchFamily="34" charset="0"/>
                <a:ea typeface="Arial" pitchFamily="34" charset="-122"/>
                <a:cs typeface="Arial" pitchFamily="34" charset="-120"/>
              </a:rPr>
              <a:t>columns</a:t>
            </a:r>
            <a:endParaRPr lang="en-US" sz="1050" dirty="0"/>
          </a:p>
        </p:txBody>
      </p:sp>
      <p:sp>
        <p:nvSpPr>
          <p:cNvPr id="14" name="Shape 12"/>
          <p:cNvSpPr/>
          <p:nvPr/>
        </p:nvSpPr>
        <p:spPr>
          <a:xfrm>
            <a:off x="6227064" y="3794760"/>
            <a:ext cx="2514600" cy="960120"/>
          </a:xfrm>
          <a:prstGeom prst="roundRect">
            <a:avLst>
              <a:gd name="adj" fmla="val 7619"/>
            </a:avLst>
          </a:prstGeom>
          <a:solidFill>
            <a:srgbClr val="FFFFFF"/>
          </a:solidFill>
          <a:ln w="12700">
            <a:solidFill>
              <a:srgbClr val="D9E2EC"/>
            </a:solidFill>
            <a:prstDash val="solid"/>
          </a:ln>
        </p:spPr>
      </p:sp>
      <p:sp>
        <p:nvSpPr>
          <p:cNvPr id="15" name="Text 13"/>
          <p:cNvSpPr/>
          <p:nvPr/>
        </p:nvSpPr>
        <p:spPr>
          <a:xfrm>
            <a:off x="6391656" y="3959352"/>
            <a:ext cx="2185416" cy="292608"/>
          </a:xfrm>
          <a:prstGeom prst="rect">
            <a:avLst/>
          </a:prstGeom>
          <a:noFill/>
          <a:ln/>
        </p:spPr>
        <p:txBody>
          <a:bodyPr wrap="square" lIns="0" tIns="0" rIns="0" bIns="0" rtlCol="0" anchor="t">
            <a:normAutofit/>
          </a:bodyPr>
          <a:lstStyle/>
          <a:p>
            <a:pPr algn="l" indent="0" marL="0">
              <a:buNone/>
            </a:pPr>
            <a:r>
              <a:rPr lang="en-US" sz="2200" b="1" dirty="0">
                <a:solidFill>
                  <a:srgbClr val="54A24B"/>
                </a:solidFill>
                <a:latin typeface="Arial" pitchFamily="34" charset="0"/>
                <a:ea typeface="Arial" pitchFamily="34" charset="-122"/>
                <a:cs typeface="Arial" pitchFamily="34" charset="-120"/>
              </a:rPr>
              <a:t>4.34M</a:t>
            </a:r>
            <a:endParaRPr lang="en-US" sz="2200" dirty="0"/>
          </a:p>
        </p:txBody>
      </p:sp>
      <p:sp>
        <p:nvSpPr>
          <p:cNvPr id="16" name="Text 14"/>
          <p:cNvSpPr/>
          <p:nvPr/>
        </p:nvSpPr>
        <p:spPr>
          <a:xfrm>
            <a:off x="6391656" y="4361688"/>
            <a:ext cx="2185416" cy="201168"/>
          </a:xfrm>
          <a:prstGeom prst="rect">
            <a:avLst/>
          </a:prstGeom>
          <a:noFill/>
          <a:ln/>
        </p:spPr>
        <p:txBody>
          <a:bodyPr wrap="square" lIns="0" tIns="0" rIns="0" bIns="0" rtlCol="0" anchor="t">
            <a:normAutofit/>
          </a:bodyPr>
          <a:lstStyle/>
          <a:p>
            <a:pPr algn="l" indent="0" marL="0">
              <a:buNone/>
            </a:pPr>
            <a:r>
              <a:rPr lang="en-US" sz="1050" dirty="0">
                <a:solidFill>
                  <a:srgbClr val="52606D"/>
                </a:solidFill>
                <a:latin typeface="Arial" pitchFamily="34" charset="0"/>
                <a:ea typeface="Arial" pitchFamily="34" charset="-122"/>
                <a:cs typeface="Arial" pitchFamily="34" charset="-120"/>
              </a:rPr>
              <a:t>median price</a:t>
            </a:r>
            <a:endParaRPr lang="en-US" sz="1050" dirty="0"/>
          </a:p>
        </p:txBody>
      </p:sp>
      <p:sp>
        <p:nvSpPr>
          <p:cNvPr id="17" name="Shape 15"/>
          <p:cNvSpPr/>
          <p:nvPr/>
        </p:nvSpPr>
        <p:spPr>
          <a:xfrm>
            <a:off x="8997696" y="3794760"/>
            <a:ext cx="2514600" cy="960120"/>
          </a:xfrm>
          <a:prstGeom prst="roundRect">
            <a:avLst>
              <a:gd name="adj" fmla="val 7619"/>
            </a:avLst>
          </a:prstGeom>
          <a:solidFill>
            <a:srgbClr val="FFFFFF"/>
          </a:solidFill>
          <a:ln w="12700">
            <a:solidFill>
              <a:srgbClr val="D9E2EC"/>
            </a:solidFill>
            <a:prstDash val="solid"/>
          </a:ln>
        </p:spPr>
      </p:sp>
      <p:sp>
        <p:nvSpPr>
          <p:cNvPr id="18" name="Text 16"/>
          <p:cNvSpPr/>
          <p:nvPr/>
        </p:nvSpPr>
        <p:spPr>
          <a:xfrm>
            <a:off x="9162288" y="3959352"/>
            <a:ext cx="2185416" cy="292608"/>
          </a:xfrm>
          <a:prstGeom prst="rect">
            <a:avLst/>
          </a:prstGeom>
          <a:noFill/>
          <a:ln/>
        </p:spPr>
        <p:txBody>
          <a:bodyPr wrap="square" lIns="0" tIns="0" rIns="0" bIns="0" rtlCol="0" anchor="t">
            <a:normAutofit/>
          </a:bodyPr>
          <a:lstStyle/>
          <a:p>
            <a:pPr algn="l" indent="0" marL="0">
              <a:buNone/>
            </a:pPr>
            <a:r>
              <a:rPr lang="en-US" sz="2200" b="1" dirty="0">
                <a:solidFill>
                  <a:srgbClr val="E45756"/>
                </a:solidFill>
                <a:latin typeface="Arial" pitchFamily="34" charset="0"/>
                <a:ea typeface="Arial" pitchFamily="34" charset="-122"/>
                <a:cs typeface="Arial" pitchFamily="34" charset="-120"/>
              </a:rPr>
              <a:t>13.30M</a:t>
            </a:r>
            <a:endParaRPr lang="en-US" sz="2200" dirty="0"/>
          </a:p>
        </p:txBody>
      </p:sp>
      <p:sp>
        <p:nvSpPr>
          <p:cNvPr id="19" name="Text 17"/>
          <p:cNvSpPr/>
          <p:nvPr/>
        </p:nvSpPr>
        <p:spPr>
          <a:xfrm>
            <a:off x="9162288" y="4361688"/>
            <a:ext cx="2185416" cy="201168"/>
          </a:xfrm>
          <a:prstGeom prst="rect">
            <a:avLst/>
          </a:prstGeom>
          <a:noFill/>
          <a:ln/>
        </p:spPr>
        <p:txBody>
          <a:bodyPr wrap="square" lIns="0" tIns="0" rIns="0" bIns="0" rtlCol="0" anchor="t">
            <a:normAutofit/>
          </a:bodyPr>
          <a:lstStyle/>
          <a:p>
            <a:pPr algn="l" indent="0" marL="0">
              <a:buNone/>
            </a:pPr>
            <a:r>
              <a:rPr lang="en-US" sz="1050" dirty="0">
                <a:solidFill>
                  <a:srgbClr val="52606D"/>
                </a:solidFill>
                <a:latin typeface="Arial" pitchFamily="34" charset="0"/>
                <a:ea typeface="Arial" pitchFamily="34" charset="-122"/>
                <a:cs typeface="Arial" pitchFamily="34" charset="-120"/>
              </a:rPr>
              <a:t>highest price</a:t>
            </a:r>
            <a:endParaRPr lang="en-US" sz="1050" dirty="0"/>
          </a:p>
        </p:txBody>
      </p:sp>
      <p:sp>
        <p:nvSpPr>
          <p:cNvPr id="20" name="Text 18"/>
          <p:cNvSpPr/>
          <p:nvPr/>
        </p:nvSpPr>
        <p:spPr>
          <a:xfrm>
            <a:off x="685800" y="5596128"/>
            <a:ext cx="9692640" cy="320040"/>
          </a:xfrm>
          <a:prstGeom prst="rect">
            <a:avLst/>
          </a:prstGeom>
          <a:noFill/>
          <a:ln/>
        </p:spPr>
        <p:txBody>
          <a:bodyPr wrap="square" lIns="0" tIns="0" rIns="0" bIns="0" rtlCol="0" anchor="t">
            <a:normAutofit/>
          </a:bodyPr>
          <a:lstStyle/>
          <a:p>
            <a:pPr algn="l" indent="0" marL="0">
              <a:buNone/>
            </a:pPr>
            <a:r>
              <a:rPr lang="en-US" sz="1700" dirty="0">
                <a:solidFill>
                  <a:srgbClr val="1F2933"/>
                </a:solidFill>
                <a:latin typeface="Arial" pitchFamily="34" charset="0"/>
                <a:ea typeface="Arial" pitchFamily="34" charset="-122"/>
                <a:cs typeface="Arial" pitchFamily="34" charset="-120"/>
              </a:rPr>
              <a:t>Initial story: price appears to rise with space, comfort features, and location access.</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4C78A8"/>
          </a:solidFill>
          <a:ln w="12700">
            <a:solidFill>
              <a:srgbClr val="4C78A8"/>
            </a:solidFill>
            <a:prstDash val="solid"/>
          </a:ln>
        </p:spPr>
      </p:sp>
      <p:sp>
        <p:nvSpPr>
          <p:cNvPr id="3" name="Text 1"/>
          <p:cNvSpPr/>
          <p:nvPr/>
        </p:nvSpPr>
        <p:spPr>
          <a:xfrm>
            <a:off x="502920" y="347472"/>
            <a:ext cx="8869680" cy="502920"/>
          </a:xfrm>
          <a:prstGeom prst="rect">
            <a:avLst/>
          </a:prstGeom>
          <a:noFill/>
          <a:ln/>
        </p:spPr>
        <p:txBody>
          <a:bodyPr wrap="square" lIns="0" tIns="0" rIns="0" bIns="0" rtlCol="0" anchor="t">
            <a:normAutofit/>
          </a:bodyPr>
          <a:lstStyle/>
          <a:p>
            <a:pPr algn="l" indent="0" marL="0">
              <a:buNone/>
            </a:pPr>
            <a:r>
              <a:rPr lang="en-US" sz="2400" b="1" dirty="0">
                <a:solidFill>
                  <a:srgbClr val="1F2933"/>
                </a:solidFill>
                <a:latin typeface="Arial" pitchFamily="34" charset="0"/>
                <a:ea typeface="Arial" pitchFamily="34" charset="-122"/>
                <a:cs typeface="Arial" pitchFamily="34" charset="-120"/>
              </a:rPr>
              <a:t>1. The market has a strong middle</a:t>
            </a:r>
            <a:endParaRPr lang="en-US" sz="2400" dirty="0"/>
          </a:p>
        </p:txBody>
      </p:sp>
      <p:sp>
        <p:nvSpPr>
          <p:cNvPr id="4" name="Text 2"/>
          <p:cNvSpPr/>
          <p:nvPr/>
        </p:nvSpPr>
        <p:spPr>
          <a:xfrm>
            <a:off x="9418320" y="402336"/>
            <a:ext cx="2240280" cy="320040"/>
          </a:xfrm>
          <a:prstGeom prst="rect">
            <a:avLst/>
          </a:prstGeom>
          <a:noFill/>
          <a:ln/>
        </p:spPr>
        <p:txBody>
          <a:bodyPr wrap="square" lIns="0" tIns="0" rIns="0" bIns="0" rtlCol="0" anchor="t">
            <a:normAutofit/>
          </a:bodyPr>
          <a:lstStyle/>
          <a:p>
            <a:pPr algn="r" indent="0" marL="0">
              <a:buNone/>
            </a:pPr>
            <a:r>
              <a:rPr lang="en-US" sz="1050" dirty="0">
                <a:solidFill>
                  <a:srgbClr val="52606D"/>
                </a:solidFill>
                <a:latin typeface="Arial" pitchFamily="34" charset="0"/>
                <a:ea typeface="Arial" pitchFamily="34" charset="-122"/>
                <a:cs typeface="Arial" pitchFamily="34" charset="-120"/>
              </a:rPr>
              <a:t>Housing Prices Dataset | 2/5</a:t>
            </a:r>
            <a:endParaRPr lang="en-US" sz="1050" dirty="0"/>
          </a:p>
        </p:txBody>
      </p:sp>
      <p:sp>
        <p:nvSpPr>
          <p:cNvPr id="5" name="Shape 3"/>
          <p:cNvSpPr/>
          <p:nvPr/>
        </p:nvSpPr>
        <p:spPr>
          <a:xfrm>
            <a:off x="502920" y="960120"/>
            <a:ext cx="11155680" cy="0"/>
          </a:xfrm>
          <a:prstGeom prst="line">
            <a:avLst/>
          </a:prstGeom>
          <a:noFill/>
          <a:ln w="12700">
            <a:solidFill>
              <a:srgbClr val="D9E2EC"/>
            </a:solidFill>
            <a:prstDash val="solid"/>
          </a:ln>
        </p:spPr>
      </p:sp>
      <p:pic>
        <p:nvPicPr>
          <p:cNvPr id="6" name="Image 0" descr="housing_price_distribution.png">    </p:cNvPr>
          <p:cNvPicPr>
            <a:picLocks noChangeAspect="1"/>
          </p:cNvPicPr>
          <p:nvPr/>
        </p:nvPicPr>
        <p:blipFill>
          <a:blip r:embed="rId1"/>
          <a:stretch>
            <a:fillRect/>
          </a:stretch>
        </p:blipFill>
        <p:spPr>
          <a:xfrm>
            <a:off x="502920" y="1731772"/>
            <a:ext cx="6903720" cy="3988816"/>
          </a:xfrm>
          <a:prstGeom prst="rect">
            <a:avLst/>
          </a:prstGeom>
        </p:spPr>
      </p:pic>
      <p:sp>
        <p:nvSpPr>
          <p:cNvPr id="7" name="Text 4"/>
          <p:cNvSpPr/>
          <p:nvPr/>
        </p:nvSpPr>
        <p:spPr>
          <a:xfrm>
            <a:off x="7726680" y="1325880"/>
            <a:ext cx="3474720" cy="320040"/>
          </a:xfrm>
          <a:prstGeom prst="rect">
            <a:avLst/>
          </a:prstGeom>
          <a:noFill/>
          <a:ln/>
        </p:spPr>
        <p:txBody>
          <a:bodyPr wrap="square" lIns="0" tIns="0" rIns="0" bIns="0" rtlCol="0" anchor="t">
            <a:normAutofit/>
          </a:bodyPr>
          <a:lstStyle/>
          <a:p>
            <a:pPr algn="l" indent="0" marL="0">
              <a:buNone/>
            </a:pPr>
            <a:r>
              <a:rPr lang="en-US" sz="1900" b="1" dirty="0">
                <a:solidFill>
                  <a:srgbClr val="4C78A8"/>
                </a:solidFill>
                <a:latin typeface="Arial" pitchFamily="34" charset="0"/>
                <a:ea typeface="Arial" pitchFamily="34" charset="-122"/>
                <a:cs typeface="Arial" pitchFamily="34" charset="-120"/>
              </a:rPr>
              <a:t>What the distribution says</a:t>
            </a:r>
            <a:endParaRPr lang="en-US" sz="1900" dirty="0"/>
          </a:p>
        </p:txBody>
      </p:sp>
      <p:sp>
        <p:nvSpPr>
          <p:cNvPr id="8" name="Text 5"/>
          <p:cNvSpPr/>
          <p:nvPr/>
        </p:nvSpPr>
        <p:spPr>
          <a:xfrm>
            <a:off x="7726680" y="1874520"/>
            <a:ext cx="3794760" cy="2377440"/>
          </a:xfrm>
          <a:prstGeom prst="rect">
            <a:avLst/>
          </a:prstGeom>
          <a:noFill/>
          <a:ln/>
        </p:spPr>
        <p:txBody>
          <a:bodyPr wrap="square" lIns="0" tIns="0" rIns="0" bIns="0" rtlCol="0" anchor="ctr">
            <a:normAutofit/>
          </a:bodyPr>
          <a:lstStyle/>
          <a:p>
            <a:r>
              <a:rPr lang="en-US" sz="1700" dirty="0">
                <a:solidFill>
                  <a:srgbClr val="1F2933"/>
                </a:solidFill>
                <a:latin typeface="Arial" pitchFamily="34" charset="0"/>
                <a:ea typeface="Arial" pitchFamily="34" charset="-122"/>
                <a:cs typeface="Arial" pitchFamily="34" charset="-120"/>
              </a:rPr>
              <a:t>Most houses sit between about 3M and 6M.</a:t>
            </a:r>
            <a:endParaRPr lang="en-US" sz="1700" dirty="0"/>
          </a:p>
          <a:p>
            <a:r>
              <a:rPr lang="en-US" sz="1700" dirty="0">
                <a:solidFill>
                  <a:srgbClr val="1F2933"/>
                </a:solidFill>
                <a:latin typeface="Arial" pitchFamily="34" charset="0"/>
                <a:ea typeface="Arial" pitchFamily="34" charset="-122"/>
                <a:cs typeface="Arial" pitchFamily="34" charset="-120"/>
              </a:rPr>
              <a:t>The average price is higher than the median.</a:t>
            </a:r>
            <a:endParaRPr lang="en-US" sz="1700" dirty="0"/>
          </a:p>
          <a:p>
            <a:r>
              <a:rPr lang="en-US" sz="1700" dirty="0">
                <a:solidFill>
                  <a:srgbClr val="1F2933"/>
                </a:solidFill>
                <a:latin typeface="Arial" pitchFamily="34" charset="0"/>
                <a:ea typeface="Arial" pitchFamily="34" charset="-122"/>
                <a:cs typeface="Arial" pitchFamily="34" charset="-120"/>
              </a:rPr>
              <a:t>A smaller high-end group pulls the average upward.</a:t>
            </a:r>
            <a:endParaRPr lang="en-US" sz="1700" dirty="0"/>
          </a:p>
        </p:txBody>
      </p:sp>
      <p:sp>
        <p:nvSpPr>
          <p:cNvPr id="9" name="Text 6"/>
          <p:cNvSpPr/>
          <p:nvPr/>
        </p:nvSpPr>
        <p:spPr>
          <a:xfrm>
            <a:off x="7726680" y="4846320"/>
            <a:ext cx="3566160" cy="731520"/>
          </a:xfrm>
          <a:prstGeom prst="rect">
            <a:avLst/>
          </a:prstGeom>
          <a:noFill/>
          <a:ln/>
        </p:spPr>
        <p:txBody>
          <a:bodyPr wrap="square" lIns="0" tIns="0" rIns="0" bIns="0" rtlCol="0" anchor="t">
            <a:normAutofit/>
          </a:bodyPr>
          <a:lstStyle/>
          <a:p>
            <a:pPr algn="l" indent="0" marL="0">
              <a:buNone/>
            </a:pPr>
            <a:r>
              <a:rPr lang="en-US" sz="1500" dirty="0">
                <a:solidFill>
                  <a:srgbClr val="1F2933"/>
                </a:solidFill>
                <a:latin typeface="Arial" pitchFamily="34" charset="0"/>
                <a:ea typeface="Arial" pitchFamily="34" charset="-122"/>
                <a:cs typeface="Arial" pitchFamily="34" charset="-120"/>
              </a:rPr>
              <a:t>Story point: start with the middle market, then explain what pushes some homes above it.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4C78A8"/>
          </a:solidFill>
          <a:ln w="12700">
            <a:solidFill>
              <a:srgbClr val="4C78A8"/>
            </a:solidFill>
            <a:prstDash val="solid"/>
          </a:ln>
        </p:spPr>
      </p:sp>
      <p:sp>
        <p:nvSpPr>
          <p:cNvPr id="3" name="Text 1"/>
          <p:cNvSpPr/>
          <p:nvPr/>
        </p:nvSpPr>
        <p:spPr>
          <a:xfrm>
            <a:off x="502920" y="347472"/>
            <a:ext cx="8869680" cy="502920"/>
          </a:xfrm>
          <a:prstGeom prst="rect">
            <a:avLst/>
          </a:prstGeom>
          <a:noFill/>
          <a:ln/>
        </p:spPr>
        <p:txBody>
          <a:bodyPr wrap="square" lIns="0" tIns="0" rIns="0" bIns="0" rtlCol="0" anchor="t">
            <a:normAutofit/>
          </a:bodyPr>
          <a:lstStyle/>
          <a:p>
            <a:pPr algn="l" indent="0" marL="0">
              <a:buNone/>
            </a:pPr>
            <a:r>
              <a:rPr lang="en-US" sz="2400" b="1" dirty="0">
                <a:solidFill>
                  <a:srgbClr val="1F2933"/>
                </a:solidFill>
                <a:latin typeface="Arial" pitchFamily="34" charset="0"/>
                <a:ea typeface="Arial" pitchFamily="34" charset="-122"/>
                <a:cs typeface="Arial" pitchFamily="34" charset="-120"/>
              </a:rPr>
              <a:t>2. Size is the clearest price driver</a:t>
            </a:r>
            <a:endParaRPr lang="en-US" sz="2400" dirty="0"/>
          </a:p>
        </p:txBody>
      </p:sp>
      <p:sp>
        <p:nvSpPr>
          <p:cNvPr id="4" name="Text 2"/>
          <p:cNvSpPr/>
          <p:nvPr/>
        </p:nvSpPr>
        <p:spPr>
          <a:xfrm>
            <a:off x="9418320" y="402336"/>
            <a:ext cx="2240280" cy="320040"/>
          </a:xfrm>
          <a:prstGeom prst="rect">
            <a:avLst/>
          </a:prstGeom>
          <a:noFill/>
          <a:ln/>
        </p:spPr>
        <p:txBody>
          <a:bodyPr wrap="square" lIns="0" tIns="0" rIns="0" bIns="0" rtlCol="0" anchor="t">
            <a:normAutofit/>
          </a:bodyPr>
          <a:lstStyle/>
          <a:p>
            <a:pPr algn="r" indent="0" marL="0">
              <a:buNone/>
            </a:pPr>
            <a:r>
              <a:rPr lang="en-US" sz="1050" dirty="0">
                <a:solidFill>
                  <a:srgbClr val="52606D"/>
                </a:solidFill>
                <a:latin typeface="Arial" pitchFamily="34" charset="0"/>
                <a:ea typeface="Arial" pitchFamily="34" charset="-122"/>
                <a:cs typeface="Arial" pitchFamily="34" charset="-120"/>
              </a:rPr>
              <a:t>Housing Prices Dataset | 3/5</a:t>
            </a:r>
            <a:endParaRPr lang="en-US" sz="1050" dirty="0"/>
          </a:p>
        </p:txBody>
      </p:sp>
      <p:sp>
        <p:nvSpPr>
          <p:cNvPr id="5" name="Shape 3"/>
          <p:cNvSpPr/>
          <p:nvPr/>
        </p:nvSpPr>
        <p:spPr>
          <a:xfrm>
            <a:off x="502920" y="960120"/>
            <a:ext cx="11155680" cy="0"/>
          </a:xfrm>
          <a:prstGeom prst="line">
            <a:avLst/>
          </a:prstGeom>
          <a:noFill/>
          <a:ln w="12700">
            <a:solidFill>
              <a:srgbClr val="D9E2EC"/>
            </a:solidFill>
            <a:prstDash val="solid"/>
          </a:ln>
        </p:spPr>
      </p:sp>
      <p:pic>
        <p:nvPicPr>
          <p:cNvPr id="6" name="Image 0" descr="housing_area_quartiles.png">    </p:cNvPr>
          <p:cNvPicPr>
            <a:picLocks noChangeAspect="1"/>
          </p:cNvPicPr>
          <p:nvPr/>
        </p:nvPicPr>
        <p:blipFill>
          <a:blip r:embed="rId1"/>
          <a:stretch>
            <a:fillRect/>
          </a:stretch>
        </p:blipFill>
        <p:spPr>
          <a:xfrm>
            <a:off x="502920" y="1731772"/>
            <a:ext cx="6903720" cy="3988816"/>
          </a:xfrm>
          <a:prstGeom prst="rect">
            <a:avLst/>
          </a:prstGeom>
        </p:spPr>
      </p:pic>
      <p:sp>
        <p:nvSpPr>
          <p:cNvPr id="7" name="Text 4"/>
          <p:cNvSpPr/>
          <p:nvPr/>
        </p:nvSpPr>
        <p:spPr>
          <a:xfrm>
            <a:off x="7726680" y="1325880"/>
            <a:ext cx="3474720" cy="320040"/>
          </a:xfrm>
          <a:prstGeom prst="rect">
            <a:avLst/>
          </a:prstGeom>
          <a:noFill/>
          <a:ln/>
        </p:spPr>
        <p:txBody>
          <a:bodyPr wrap="square" lIns="0" tIns="0" rIns="0" bIns="0" rtlCol="0" anchor="t">
            <a:normAutofit/>
          </a:bodyPr>
          <a:lstStyle/>
          <a:p>
            <a:pPr algn="l" indent="0" marL="0">
              <a:buNone/>
            </a:pPr>
            <a:r>
              <a:rPr lang="en-US" sz="1900" b="1" dirty="0">
                <a:solidFill>
                  <a:srgbClr val="54A24B"/>
                </a:solidFill>
                <a:latin typeface="Arial" pitchFamily="34" charset="0"/>
                <a:ea typeface="Arial" pitchFamily="34" charset="-122"/>
                <a:cs typeface="Arial" pitchFamily="34" charset="-120"/>
              </a:rPr>
              <a:t>Main evidence</a:t>
            </a:r>
            <a:endParaRPr lang="en-US" sz="1900" dirty="0"/>
          </a:p>
        </p:txBody>
      </p:sp>
      <p:sp>
        <p:nvSpPr>
          <p:cNvPr id="8" name="Text 5"/>
          <p:cNvSpPr/>
          <p:nvPr/>
        </p:nvSpPr>
        <p:spPr>
          <a:xfrm>
            <a:off x="7726680" y="1874520"/>
            <a:ext cx="3794760" cy="2743200"/>
          </a:xfrm>
          <a:prstGeom prst="rect">
            <a:avLst/>
          </a:prstGeom>
          <a:noFill/>
          <a:ln/>
        </p:spPr>
        <p:txBody>
          <a:bodyPr wrap="square" lIns="0" tIns="0" rIns="0" bIns="0" rtlCol="0" anchor="ctr">
            <a:normAutofit/>
          </a:bodyPr>
          <a:lstStyle/>
          <a:p>
            <a:r>
              <a:rPr lang="en-US" sz="1700" dirty="0">
                <a:solidFill>
                  <a:srgbClr val="1F2933"/>
                </a:solidFill>
                <a:latin typeface="Arial" pitchFamily="34" charset="0"/>
                <a:ea typeface="Arial" pitchFamily="34" charset="-122"/>
                <a:cs typeface="Arial" pitchFamily="34" charset="-120"/>
              </a:rPr>
              <a:t>Area has the strongest numeric relationship with price.</a:t>
            </a:r>
            <a:endParaRPr lang="en-US" sz="1700" dirty="0"/>
          </a:p>
          <a:p>
            <a:r>
              <a:rPr lang="en-US" sz="1700" dirty="0">
                <a:solidFill>
                  <a:srgbClr val="1F2933"/>
                </a:solidFill>
                <a:latin typeface="Arial" pitchFamily="34" charset="0"/>
                <a:ea typeface="Arial" pitchFamily="34" charset="-122"/>
                <a:cs typeface="Arial" pitchFamily="34" charset="-120"/>
              </a:rPr>
              <a:t>Average price rises from 3.54M to 6.22M across area groups.</a:t>
            </a:r>
            <a:endParaRPr lang="en-US" sz="1700" dirty="0"/>
          </a:p>
          <a:p>
            <a:r>
              <a:rPr lang="en-US" sz="1700" dirty="0">
                <a:solidFill>
                  <a:srgbClr val="1F2933"/>
                </a:solidFill>
                <a:latin typeface="Arial" pitchFamily="34" charset="0"/>
                <a:ea typeface="Arial" pitchFamily="34" charset="-122"/>
                <a:cs typeface="Arial" pitchFamily="34" charset="-120"/>
              </a:rPr>
              <a:t>Bigger homes are the easiest first explanation for higher prices.</a:t>
            </a:r>
            <a:endParaRPr lang="en-US" sz="1700" dirty="0"/>
          </a:p>
        </p:txBody>
      </p:sp>
      <p:sp>
        <p:nvSpPr>
          <p:cNvPr id="9" name="Text 6"/>
          <p:cNvSpPr/>
          <p:nvPr/>
        </p:nvSpPr>
        <p:spPr>
          <a:xfrm>
            <a:off x="7726680" y="5166360"/>
            <a:ext cx="3566160" cy="457200"/>
          </a:xfrm>
          <a:prstGeom prst="rect">
            <a:avLst/>
          </a:prstGeom>
          <a:noFill/>
          <a:ln/>
        </p:spPr>
        <p:txBody>
          <a:bodyPr wrap="square" lIns="0" tIns="0" rIns="0" bIns="0" rtlCol="0" anchor="t">
            <a:normAutofit/>
          </a:bodyPr>
          <a:lstStyle/>
          <a:p>
            <a:pPr algn="l" indent="0" marL="0">
              <a:buNone/>
            </a:pPr>
            <a:r>
              <a:rPr lang="en-US" sz="1350" dirty="0">
                <a:solidFill>
                  <a:srgbClr val="52606D"/>
                </a:solidFill>
                <a:latin typeface="Arial" pitchFamily="34" charset="0"/>
                <a:ea typeface="Arial" pitchFamily="34" charset="-122"/>
                <a:cs typeface="Arial" pitchFamily="34" charset="-120"/>
              </a:rPr>
              <a:t>Correlation with price: area 0.54, bathrooms 0.52, stories 0.42.</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4C78A8"/>
          </a:solidFill>
          <a:ln w="12700">
            <a:solidFill>
              <a:srgbClr val="4C78A8"/>
            </a:solidFill>
            <a:prstDash val="solid"/>
          </a:ln>
        </p:spPr>
      </p:sp>
      <p:sp>
        <p:nvSpPr>
          <p:cNvPr id="3" name="Text 1"/>
          <p:cNvSpPr/>
          <p:nvPr/>
        </p:nvSpPr>
        <p:spPr>
          <a:xfrm>
            <a:off x="502920" y="347472"/>
            <a:ext cx="8869680" cy="502920"/>
          </a:xfrm>
          <a:prstGeom prst="rect">
            <a:avLst/>
          </a:prstGeom>
          <a:noFill/>
          <a:ln/>
        </p:spPr>
        <p:txBody>
          <a:bodyPr wrap="square" lIns="0" tIns="0" rIns="0" bIns="0" rtlCol="0" anchor="t">
            <a:normAutofit/>
          </a:bodyPr>
          <a:lstStyle/>
          <a:p>
            <a:pPr algn="l" indent="0" marL="0">
              <a:buNone/>
            </a:pPr>
            <a:r>
              <a:rPr lang="en-US" sz="2400" b="1" dirty="0">
                <a:solidFill>
                  <a:srgbClr val="1F2933"/>
                </a:solidFill>
                <a:latin typeface="Arial" pitchFamily="34" charset="0"/>
                <a:ea typeface="Arial" pitchFamily="34" charset="-122"/>
                <a:cs typeface="Arial" pitchFamily="34" charset="-120"/>
              </a:rPr>
              <a:t>3. Comfort and access add premiums</a:t>
            </a:r>
            <a:endParaRPr lang="en-US" sz="2400" dirty="0"/>
          </a:p>
        </p:txBody>
      </p:sp>
      <p:sp>
        <p:nvSpPr>
          <p:cNvPr id="4" name="Text 2"/>
          <p:cNvSpPr/>
          <p:nvPr/>
        </p:nvSpPr>
        <p:spPr>
          <a:xfrm>
            <a:off x="9418320" y="402336"/>
            <a:ext cx="2240280" cy="320040"/>
          </a:xfrm>
          <a:prstGeom prst="rect">
            <a:avLst/>
          </a:prstGeom>
          <a:noFill/>
          <a:ln/>
        </p:spPr>
        <p:txBody>
          <a:bodyPr wrap="square" lIns="0" tIns="0" rIns="0" bIns="0" rtlCol="0" anchor="t">
            <a:normAutofit/>
          </a:bodyPr>
          <a:lstStyle/>
          <a:p>
            <a:pPr algn="r" indent="0" marL="0">
              <a:buNone/>
            </a:pPr>
            <a:r>
              <a:rPr lang="en-US" sz="1050" dirty="0">
                <a:solidFill>
                  <a:srgbClr val="52606D"/>
                </a:solidFill>
                <a:latin typeface="Arial" pitchFamily="34" charset="0"/>
                <a:ea typeface="Arial" pitchFamily="34" charset="-122"/>
                <a:cs typeface="Arial" pitchFamily="34" charset="-120"/>
              </a:rPr>
              <a:t>Housing Prices Dataset | 4/5</a:t>
            </a:r>
            <a:endParaRPr lang="en-US" sz="1050" dirty="0"/>
          </a:p>
        </p:txBody>
      </p:sp>
      <p:sp>
        <p:nvSpPr>
          <p:cNvPr id="5" name="Shape 3"/>
          <p:cNvSpPr/>
          <p:nvPr/>
        </p:nvSpPr>
        <p:spPr>
          <a:xfrm>
            <a:off x="502920" y="960120"/>
            <a:ext cx="11155680" cy="0"/>
          </a:xfrm>
          <a:prstGeom prst="line">
            <a:avLst/>
          </a:prstGeom>
          <a:noFill/>
          <a:ln w="12700">
            <a:solidFill>
              <a:srgbClr val="D9E2EC"/>
            </a:solidFill>
            <a:prstDash val="solid"/>
          </a:ln>
        </p:spPr>
      </p:sp>
      <p:pic>
        <p:nvPicPr>
          <p:cNvPr id="6" name="Image 0" descr="housing_feature_premiums.png">    </p:cNvPr>
          <p:cNvPicPr>
            <a:picLocks noChangeAspect="1"/>
          </p:cNvPicPr>
          <p:nvPr/>
        </p:nvPicPr>
        <p:blipFill>
          <a:blip r:embed="rId1"/>
          <a:stretch>
            <a:fillRect/>
          </a:stretch>
        </p:blipFill>
        <p:spPr>
          <a:xfrm>
            <a:off x="502920" y="1678940"/>
            <a:ext cx="7086600" cy="4094480"/>
          </a:xfrm>
          <a:prstGeom prst="rect">
            <a:avLst/>
          </a:prstGeom>
        </p:spPr>
      </p:pic>
      <p:sp>
        <p:nvSpPr>
          <p:cNvPr id="7" name="Text 4"/>
          <p:cNvSpPr/>
          <p:nvPr/>
        </p:nvSpPr>
        <p:spPr>
          <a:xfrm>
            <a:off x="7863840" y="1325880"/>
            <a:ext cx="3337560" cy="320040"/>
          </a:xfrm>
          <a:prstGeom prst="rect">
            <a:avLst/>
          </a:prstGeom>
          <a:noFill/>
          <a:ln/>
        </p:spPr>
        <p:txBody>
          <a:bodyPr wrap="square" lIns="0" tIns="0" rIns="0" bIns="0" rtlCol="0" anchor="t">
            <a:normAutofit/>
          </a:bodyPr>
          <a:lstStyle/>
          <a:p>
            <a:pPr algn="l" indent="0" marL="0">
              <a:buNone/>
            </a:pPr>
            <a:r>
              <a:rPr lang="en-US" sz="1900" b="1" dirty="0">
                <a:solidFill>
                  <a:srgbClr val="F58518"/>
                </a:solidFill>
                <a:latin typeface="Arial" pitchFamily="34" charset="0"/>
                <a:ea typeface="Arial" pitchFamily="34" charset="-122"/>
                <a:cs typeface="Arial" pitchFamily="34" charset="-120"/>
              </a:rPr>
              <a:t>Feature pattern</a:t>
            </a:r>
            <a:endParaRPr lang="en-US" sz="1900" dirty="0"/>
          </a:p>
        </p:txBody>
      </p:sp>
      <p:sp>
        <p:nvSpPr>
          <p:cNvPr id="8" name="Text 5"/>
          <p:cNvSpPr/>
          <p:nvPr/>
        </p:nvSpPr>
        <p:spPr>
          <a:xfrm>
            <a:off x="7863840" y="1874520"/>
            <a:ext cx="3611880" cy="2743200"/>
          </a:xfrm>
          <a:prstGeom prst="rect">
            <a:avLst/>
          </a:prstGeom>
          <a:noFill/>
          <a:ln/>
        </p:spPr>
        <p:txBody>
          <a:bodyPr wrap="square" lIns="0" tIns="0" rIns="0" bIns="0" rtlCol="0" anchor="ctr">
            <a:normAutofit/>
          </a:bodyPr>
          <a:lstStyle/>
          <a:p>
            <a:r>
              <a:rPr lang="en-US" sz="1700" dirty="0">
                <a:solidFill>
                  <a:srgbClr val="1F2933"/>
                </a:solidFill>
                <a:latin typeface="Arial" pitchFamily="34" charset="0"/>
                <a:ea typeface="Arial" pitchFamily="34" charset="-122"/>
                <a:cs typeface="Arial" pitchFamily="34" charset="-120"/>
              </a:rPr>
              <a:t>Air conditioning has the largest simple premium: about 1.82M.</a:t>
            </a:r>
            <a:endParaRPr lang="en-US" sz="1700" dirty="0"/>
          </a:p>
          <a:p>
            <a:r>
              <a:rPr lang="en-US" sz="1700" dirty="0">
                <a:solidFill>
                  <a:srgbClr val="1F2933"/>
                </a:solidFill>
                <a:latin typeface="Arial" pitchFamily="34" charset="0"/>
                <a:ea typeface="Arial" pitchFamily="34" charset="-122"/>
                <a:cs typeface="Arial" pitchFamily="34" charset="-120"/>
              </a:rPr>
              <a:t>Main road access and preferred area also show strong premiums.</a:t>
            </a:r>
            <a:endParaRPr lang="en-US" sz="1700" dirty="0"/>
          </a:p>
          <a:p>
            <a:r>
              <a:rPr lang="en-US" sz="1700" dirty="0">
                <a:solidFill>
                  <a:srgbClr val="1F2933"/>
                </a:solidFill>
                <a:latin typeface="Arial" pitchFamily="34" charset="0"/>
                <a:ea typeface="Arial" pitchFamily="34" charset="-122"/>
                <a:cs typeface="Arial" pitchFamily="34" charset="-120"/>
              </a:rPr>
              <a:t>These are descriptive patterns, not proof of causation.</a:t>
            </a:r>
            <a:endParaRPr lang="en-US" sz="1700" dirty="0"/>
          </a:p>
        </p:txBody>
      </p:sp>
      <p:sp>
        <p:nvSpPr>
          <p:cNvPr id="9" name="Text 6"/>
          <p:cNvSpPr/>
          <p:nvPr/>
        </p:nvSpPr>
        <p:spPr>
          <a:xfrm>
            <a:off x="7863840" y="5148072"/>
            <a:ext cx="3429000" cy="594360"/>
          </a:xfrm>
          <a:prstGeom prst="rect">
            <a:avLst/>
          </a:prstGeom>
          <a:noFill/>
          <a:ln/>
        </p:spPr>
        <p:txBody>
          <a:bodyPr wrap="square" lIns="0" tIns="0" rIns="0" bIns="0" rtlCol="0" anchor="t">
            <a:normAutofit/>
          </a:bodyPr>
          <a:lstStyle/>
          <a:p>
            <a:pPr algn="l" indent="0" marL="0">
              <a:buNone/>
            </a:pPr>
            <a:r>
              <a:rPr lang="en-US" sz="1450" dirty="0">
                <a:solidFill>
                  <a:srgbClr val="1F2933"/>
                </a:solidFill>
                <a:latin typeface="Arial" pitchFamily="34" charset="0"/>
                <a:ea typeface="Arial" pitchFamily="34" charset="-122"/>
                <a:cs typeface="Arial" pitchFamily="34" charset="-120"/>
              </a:rPr>
              <a:t>Story point: buyers appear to pay more for practical comfort and easier access.</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4C78A8"/>
          </a:solidFill>
          <a:ln w="12700">
            <a:solidFill>
              <a:srgbClr val="4C78A8"/>
            </a:solidFill>
            <a:prstDash val="solid"/>
          </a:ln>
        </p:spPr>
      </p:sp>
      <p:sp>
        <p:nvSpPr>
          <p:cNvPr id="3" name="Text 1"/>
          <p:cNvSpPr/>
          <p:nvPr/>
        </p:nvSpPr>
        <p:spPr>
          <a:xfrm>
            <a:off x="502920" y="347472"/>
            <a:ext cx="8869680" cy="502920"/>
          </a:xfrm>
          <a:prstGeom prst="rect">
            <a:avLst/>
          </a:prstGeom>
          <a:noFill/>
          <a:ln/>
        </p:spPr>
        <p:txBody>
          <a:bodyPr wrap="square" lIns="0" tIns="0" rIns="0" bIns="0" rtlCol="0" anchor="t">
            <a:normAutofit/>
          </a:bodyPr>
          <a:lstStyle/>
          <a:p>
            <a:pPr algn="l" indent="0" marL="0">
              <a:buNone/>
            </a:pPr>
            <a:r>
              <a:rPr lang="en-US" sz="2400" b="1" dirty="0">
                <a:solidFill>
                  <a:srgbClr val="1F2933"/>
                </a:solidFill>
                <a:latin typeface="Arial" pitchFamily="34" charset="0"/>
                <a:ea typeface="Arial" pitchFamily="34" charset="-122"/>
                <a:cs typeface="Arial" pitchFamily="34" charset="-120"/>
              </a:rPr>
              <a:t>4. Initial story for discussion</a:t>
            </a:r>
            <a:endParaRPr lang="en-US" sz="2400" dirty="0"/>
          </a:p>
        </p:txBody>
      </p:sp>
      <p:sp>
        <p:nvSpPr>
          <p:cNvPr id="4" name="Text 2"/>
          <p:cNvSpPr/>
          <p:nvPr/>
        </p:nvSpPr>
        <p:spPr>
          <a:xfrm>
            <a:off x="9418320" y="402336"/>
            <a:ext cx="2240280" cy="320040"/>
          </a:xfrm>
          <a:prstGeom prst="rect">
            <a:avLst/>
          </a:prstGeom>
          <a:noFill/>
          <a:ln/>
        </p:spPr>
        <p:txBody>
          <a:bodyPr wrap="square" lIns="0" tIns="0" rIns="0" bIns="0" rtlCol="0" anchor="t">
            <a:normAutofit/>
          </a:bodyPr>
          <a:lstStyle/>
          <a:p>
            <a:pPr algn="r" indent="0" marL="0">
              <a:buNone/>
            </a:pPr>
            <a:r>
              <a:rPr lang="en-US" sz="1050" dirty="0">
                <a:solidFill>
                  <a:srgbClr val="52606D"/>
                </a:solidFill>
                <a:latin typeface="Arial" pitchFamily="34" charset="0"/>
                <a:ea typeface="Arial" pitchFamily="34" charset="-122"/>
                <a:cs typeface="Arial" pitchFamily="34" charset="-120"/>
              </a:rPr>
              <a:t>Housing Prices Dataset | 5/5</a:t>
            </a:r>
            <a:endParaRPr lang="en-US" sz="1050" dirty="0"/>
          </a:p>
        </p:txBody>
      </p:sp>
      <p:sp>
        <p:nvSpPr>
          <p:cNvPr id="5" name="Shape 3"/>
          <p:cNvSpPr/>
          <p:nvPr/>
        </p:nvSpPr>
        <p:spPr>
          <a:xfrm>
            <a:off x="502920" y="960120"/>
            <a:ext cx="11155680" cy="0"/>
          </a:xfrm>
          <a:prstGeom prst="line">
            <a:avLst/>
          </a:prstGeom>
          <a:noFill/>
          <a:ln w="12700">
            <a:solidFill>
              <a:srgbClr val="D9E2EC"/>
            </a:solidFill>
            <a:prstDash val="solid"/>
          </a:ln>
        </p:spPr>
      </p:sp>
      <p:sp>
        <p:nvSpPr>
          <p:cNvPr id="6" name="Text 4"/>
          <p:cNvSpPr/>
          <p:nvPr/>
        </p:nvSpPr>
        <p:spPr>
          <a:xfrm>
            <a:off x="685800" y="1325880"/>
            <a:ext cx="6766560" cy="411480"/>
          </a:xfrm>
          <a:prstGeom prst="rect">
            <a:avLst/>
          </a:prstGeom>
          <a:noFill/>
          <a:ln/>
        </p:spPr>
        <p:txBody>
          <a:bodyPr wrap="square" lIns="0" tIns="0" rIns="0" bIns="0" rtlCol="0" anchor="t">
            <a:normAutofit/>
          </a:bodyPr>
          <a:lstStyle/>
          <a:p>
            <a:pPr algn="l" indent="0" marL="0">
              <a:buNone/>
            </a:pPr>
            <a:r>
              <a:rPr lang="en-US" sz="2300" b="1" dirty="0">
                <a:solidFill>
                  <a:srgbClr val="1F2933"/>
                </a:solidFill>
                <a:latin typeface="Arial" pitchFamily="34" charset="0"/>
                <a:ea typeface="Arial" pitchFamily="34" charset="-122"/>
                <a:cs typeface="Arial" pitchFamily="34" charset="-120"/>
              </a:rPr>
              <a:t>Housing price looks like a mix of three ideas:</a:t>
            </a:r>
            <a:endParaRPr lang="en-US" sz="2300" dirty="0"/>
          </a:p>
        </p:txBody>
      </p:sp>
      <p:sp>
        <p:nvSpPr>
          <p:cNvPr id="7" name="Shape 5"/>
          <p:cNvSpPr/>
          <p:nvPr/>
        </p:nvSpPr>
        <p:spPr>
          <a:xfrm>
            <a:off x="731520" y="2148840"/>
            <a:ext cx="3337560" cy="2057400"/>
          </a:xfrm>
          <a:prstGeom prst="roundRect">
            <a:avLst>
              <a:gd name="adj" fmla="val 3556"/>
            </a:avLst>
          </a:prstGeom>
          <a:solidFill>
            <a:srgbClr val="FFFFFF"/>
          </a:solidFill>
          <a:ln w="12700">
            <a:solidFill>
              <a:srgbClr val="D9E2EC"/>
            </a:solidFill>
            <a:prstDash val="solid"/>
          </a:ln>
        </p:spPr>
      </p:sp>
      <p:sp>
        <p:nvSpPr>
          <p:cNvPr id="8" name="Shape 6"/>
          <p:cNvSpPr/>
          <p:nvPr/>
        </p:nvSpPr>
        <p:spPr>
          <a:xfrm>
            <a:off x="731520" y="2148840"/>
            <a:ext cx="3337560" cy="109728"/>
          </a:xfrm>
          <a:prstGeom prst="rect">
            <a:avLst/>
          </a:prstGeom>
          <a:solidFill>
            <a:srgbClr val="4C78A8"/>
          </a:solidFill>
          <a:ln w="12700">
            <a:solidFill>
              <a:srgbClr val="4C78A8"/>
            </a:solidFill>
            <a:prstDash val="solid"/>
          </a:ln>
        </p:spPr>
      </p:sp>
      <p:sp>
        <p:nvSpPr>
          <p:cNvPr id="9" name="Text 7"/>
          <p:cNvSpPr/>
          <p:nvPr/>
        </p:nvSpPr>
        <p:spPr>
          <a:xfrm>
            <a:off x="932688" y="2487168"/>
            <a:ext cx="2926080" cy="292608"/>
          </a:xfrm>
          <a:prstGeom prst="rect">
            <a:avLst/>
          </a:prstGeom>
          <a:noFill/>
          <a:ln/>
        </p:spPr>
        <p:txBody>
          <a:bodyPr wrap="square" lIns="0" tIns="0" rIns="0" bIns="0" rtlCol="0" anchor="t">
            <a:normAutofit/>
          </a:bodyPr>
          <a:lstStyle/>
          <a:p>
            <a:pPr algn="l" indent="0" marL="0">
              <a:buNone/>
            </a:pPr>
            <a:r>
              <a:rPr lang="en-US" sz="2100" b="1" dirty="0">
                <a:solidFill>
                  <a:srgbClr val="4C78A8"/>
                </a:solidFill>
                <a:latin typeface="Arial" pitchFamily="34" charset="0"/>
                <a:ea typeface="Arial" pitchFamily="34" charset="-122"/>
                <a:cs typeface="Arial" pitchFamily="34" charset="-120"/>
              </a:rPr>
              <a:t>Space</a:t>
            </a:r>
            <a:endParaRPr lang="en-US" sz="2100" dirty="0"/>
          </a:p>
        </p:txBody>
      </p:sp>
      <p:sp>
        <p:nvSpPr>
          <p:cNvPr id="10" name="Text 8"/>
          <p:cNvSpPr/>
          <p:nvPr/>
        </p:nvSpPr>
        <p:spPr>
          <a:xfrm>
            <a:off x="932688" y="2971800"/>
            <a:ext cx="2880360" cy="749808"/>
          </a:xfrm>
          <a:prstGeom prst="rect">
            <a:avLst/>
          </a:prstGeom>
          <a:noFill/>
          <a:ln/>
        </p:spPr>
        <p:txBody>
          <a:bodyPr wrap="square" lIns="0" tIns="0" rIns="0" bIns="0" rtlCol="0" anchor="t">
            <a:normAutofit/>
          </a:bodyPr>
          <a:lstStyle/>
          <a:p>
            <a:pPr algn="l" indent="0" marL="0">
              <a:buNone/>
            </a:pPr>
            <a:r>
              <a:rPr lang="en-US" sz="1550" dirty="0">
                <a:solidFill>
                  <a:srgbClr val="1F2933"/>
                </a:solidFill>
                <a:latin typeface="Arial" pitchFamily="34" charset="0"/>
                <a:ea typeface="Arial" pitchFamily="34" charset="-122"/>
                <a:cs typeface="Arial" pitchFamily="34" charset="-120"/>
              </a:rPr>
              <a:t>Larger area is linked with higher average price.</a:t>
            </a:r>
            <a:endParaRPr lang="en-US" sz="1550" dirty="0"/>
          </a:p>
        </p:txBody>
      </p:sp>
      <p:sp>
        <p:nvSpPr>
          <p:cNvPr id="11" name="Shape 9"/>
          <p:cNvSpPr/>
          <p:nvPr/>
        </p:nvSpPr>
        <p:spPr>
          <a:xfrm>
            <a:off x="4526280" y="2148840"/>
            <a:ext cx="3337560" cy="2057400"/>
          </a:xfrm>
          <a:prstGeom prst="roundRect">
            <a:avLst>
              <a:gd name="adj" fmla="val 3556"/>
            </a:avLst>
          </a:prstGeom>
          <a:solidFill>
            <a:srgbClr val="FFFFFF"/>
          </a:solidFill>
          <a:ln w="12700">
            <a:solidFill>
              <a:srgbClr val="D9E2EC"/>
            </a:solidFill>
            <a:prstDash val="solid"/>
          </a:ln>
        </p:spPr>
      </p:sp>
      <p:sp>
        <p:nvSpPr>
          <p:cNvPr id="12" name="Shape 10"/>
          <p:cNvSpPr/>
          <p:nvPr/>
        </p:nvSpPr>
        <p:spPr>
          <a:xfrm>
            <a:off x="4526280" y="2148840"/>
            <a:ext cx="3337560" cy="109728"/>
          </a:xfrm>
          <a:prstGeom prst="rect">
            <a:avLst/>
          </a:prstGeom>
          <a:solidFill>
            <a:srgbClr val="54A24B"/>
          </a:solidFill>
          <a:ln w="12700">
            <a:solidFill>
              <a:srgbClr val="54A24B"/>
            </a:solidFill>
            <a:prstDash val="solid"/>
          </a:ln>
        </p:spPr>
      </p:sp>
      <p:sp>
        <p:nvSpPr>
          <p:cNvPr id="13" name="Text 11"/>
          <p:cNvSpPr/>
          <p:nvPr/>
        </p:nvSpPr>
        <p:spPr>
          <a:xfrm>
            <a:off x="4727448" y="2487168"/>
            <a:ext cx="2926080" cy="292608"/>
          </a:xfrm>
          <a:prstGeom prst="rect">
            <a:avLst/>
          </a:prstGeom>
          <a:noFill/>
          <a:ln/>
        </p:spPr>
        <p:txBody>
          <a:bodyPr wrap="square" lIns="0" tIns="0" rIns="0" bIns="0" rtlCol="0" anchor="t">
            <a:normAutofit/>
          </a:bodyPr>
          <a:lstStyle/>
          <a:p>
            <a:pPr algn="l" indent="0" marL="0">
              <a:buNone/>
            </a:pPr>
            <a:r>
              <a:rPr lang="en-US" sz="2100" b="1" dirty="0">
                <a:solidFill>
                  <a:srgbClr val="54A24B"/>
                </a:solidFill>
                <a:latin typeface="Arial" pitchFamily="34" charset="0"/>
                <a:ea typeface="Arial" pitchFamily="34" charset="-122"/>
                <a:cs typeface="Arial" pitchFamily="34" charset="-120"/>
              </a:rPr>
              <a:t>Comfort</a:t>
            </a:r>
            <a:endParaRPr lang="en-US" sz="2100" dirty="0"/>
          </a:p>
        </p:txBody>
      </p:sp>
      <p:sp>
        <p:nvSpPr>
          <p:cNvPr id="14" name="Text 12"/>
          <p:cNvSpPr/>
          <p:nvPr/>
        </p:nvSpPr>
        <p:spPr>
          <a:xfrm>
            <a:off x="4727448" y="2971800"/>
            <a:ext cx="2880360" cy="749808"/>
          </a:xfrm>
          <a:prstGeom prst="rect">
            <a:avLst/>
          </a:prstGeom>
          <a:noFill/>
          <a:ln/>
        </p:spPr>
        <p:txBody>
          <a:bodyPr wrap="square" lIns="0" tIns="0" rIns="0" bIns="0" rtlCol="0" anchor="t">
            <a:normAutofit/>
          </a:bodyPr>
          <a:lstStyle/>
          <a:p>
            <a:pPr algn="l" indent="0" marL="0">
              <a:buNone/>
            </a:pPr>
            <a:r>
              <a:rPr lang="en-US" sz="1550" dirty="0">
                <a:solidFill>
                  <a:srgbClr val="1F2933"/>
                </a:solidFill>
                <a:latin typeface="Arial" pitchFamily="34" charset="0"/>
                <a:ea typeface="Arial" pitchFamily="34" charset="-122"/>
                <a:cs typeface="Arial" pitchFamily="34" charset="-120"/>
              </a:rPr>
              <a:t>Air conditioning and guest rooms lift the average price.</a:t>
            </a:r>
            <a:endParaRPr lang="en-US" sz="1550" dirty="0"/>
          </a:p>
        </p:txBody>
      </p:sp>
      <p:sp>
        <p:nvSpPr>
          <p:cNvPr id="15" name="Shape 13"/>
          <p:cNvSpPr/>
          <p:nvPr/>
        </p:nvSpPr>
        <p:spPr>
          <a:xfrm>
            <a:off x="8321040" y="2148840"/>
            <a:ext cx="3337560" cy="2057400"/>
          </a:xfrm>
          <a:prstGeom prst="roundRect">
            <a:avLst>
              <a:gd name="adj" fmla="val 3556"/>
            </a:avLst>
          </a:prstGeom>
          <a:solidFill>
            <a:srgbClr val="FFFFFF"/>
          </a:solidFill>
          <a:ln w="12700">
            <a:solidFill>
              <a:srgbClr val="D9E2EC"/>
            </a:solidFill>
            <a:prstDash val="solid"/>
          </a:ln>
        </p:spPr>
      </p:sp>
      <p:sp>
        <p:nvSpPr>
          <p:cNvPr id="16" name="Shape 14"/>
          <p:cNvSpPr/>
          <p:nvPr/>
        </p:nvSpPr>
        <p:spPr>
          <a:xfrm>
            <a:off x="8321040" y="2148840"/>
            <a:ext cx="3337560" cy="109728"/>
          </a:xfrm>
          <a:prstGeom prst="rect">
            <a:avLst/>
          </a:prstGeom>
          <a:solidFill>
            <a:srgbClr val="F58518"/>
          </a:solidFill>
          <a:ln w="12700">
            <a:solidFill>
              <a:srgbClr val="F58518"/>
            </a:solidFill>
            <a:prstDash val="solid"/>
          </a:ln>
        </p:spPr>
      </p:sp>
      <p:sp>
        <p:nvSpPr>
          <p:cNvPr id="17" name="Text 15"/>
          <p:cNvSpPr/>
          <p:nvPr/>
        </p:nvSpPr>
        <p:spPr>
          <a:xfrm>
            <a:off x="8522208" y="2487168"/>
            <a:ext cx="2926080" cy="292608"/>
          </a:xfrm>
          <a:prstGeom prst="rect">
            <a:avLst/>
          </a:prstGeom>
          <a:noFill/>
          <a:ln/>
        </p:spPr>
        <p:txBody>
          <a:bodyPr wrap="square" lIns="0" tIns="0" rIns="0" bIns="0" rtlCol="0" anchor="t">
            <a:normAutofit/>
          </a:bodyPr>
          <a:lstStyle/>
          <a:p>
            <a:pPr algn="l" indent="0" marL="0">
              <a:buNone/>
            </a:pPr>
            <a:r>
              <a:rPr lang="en-US" sz="2100" b="1" dirty="0">
                <a:solidFill>
                  <a:srgbClr val="F58518"/>
                </a:solidFill>
                <a:latin typeface="Arial" pitchFamily="34" charset="0"/>
                <a:ea typeface="Arial" pitchFamily="34" charset="-122"/>
                <a:cs typeface="Arial" pitchFamily="34" charset="-120"/>
              </a:rPr>
              <a:t>Access</a:t>
            </a:r>
            <a:endParaRPr lang="en-US" sz="2100" dirty="0"/>
          </a:p>
        </p:txBody>
      </p:sp>
      <p:sp>
        <p:nvSpPr>
          <p:cNvPr id="18" name="Text 16"/>
          <p:cNvSpPr/>
          <p:nvPr/>
        </p:nvSpPr>
        <p:spPr>
          <a:xfrm>
            <a:off x="8522208" y="2971800"/>
            <a:ext cx="2880360" cy="749808"/>
          </a:xfrm>
          <a:prstGeom prst="rect">
            <a:avLst/>
          </a:prstGeom>
          <a:noFill/>
          <a:ln/>
        </p:spPr>
        <p:txBody>
          <a:bodyPr wrap="square" lIns="0" tIns="0" rIns="0" bIns="0" rtlCol="0" anchor="t">
            <a:normAutofit/>
          </a:bodyPr>
          <a:lstStyle/>
          <a:p>
            <a:pPr algn="l" indent="0" marL="0">
              <a:buNone/>
            </a:pPr>
            <a:r>
              <a:rPr lang="en-US" sz="1550" dirty="0">
                <a:solidFill>
                  <a:srgbClr val="1F2933"/>
                </a:solidFill>
                <a:latin typeface="Arial" pitchFamily="34" charset="0"/>
                <a:ea typeface="Arial" pitchFamily="34" charset="-122"/>
                <a:cs typeface="Arial" pitchFamily="34" charset="-120"/>
              </a:rPr>
              <a:t>Main road and preferred area homes sell at higher averages.</a:t>
            </a:r>
            <a:endParaRPr lang="en-US" sz="1550" dirty="0"/>
          </a:p>
        </p:txBody>
      </p:sp>
      <p:sp>
        <p:nvSpPr>
          <p:cNvPr id="19" name="Text 17"/>
          <p:cNvSpPr/>
          <p:nvPr/>
        </p:nvSpPr>
        <p:spPr>
          <a:xfrm>
            <a:off x="685800" y="4892040"/>
            <a:ext cx="1280160" cy="274320"/>
          </a:xfrm>
          <a:prstGeom prst="rect">
            <a:avLst/>
          </a:prstGeom>
          <a:noFill/>
          <a:ln/>
        </p:spPr>
        <p:txBody>
          <a:bodyPr wrap="square" lIns="0" tIns="0" rIns="0" bIns="0" rtlCol="0" anchor="t">
            <a:normAutofit/>
          </a:bodyPr>
          <a:lstStyle/>
          <a:p>
            <a:pPr algn="l" indent="0" marL="0">
              <a:buNone/>
            </a:pPr>
            <a:r>
              <a:rPr lang="en-US" sz="1500" b="1" dirty="0">
                <a:solidFill>
                  <a:srgbClr val="4C78A8"/>
                </a:solidFill>
                <a:latin typeface="Arial" pitchFamily="34" charset="0"/>
                <a:ea typeface="Arial" pitchFamily="34" charset="-122"/>
                <a:cs typeface="Arial" pitchFamily="34" charset="-120"/>
              </a:rPr>
              <a:t>Next step</a:t>
            </a:r>
            <a:endParaRPr lang="en-US" sz="1500" dirty="0"/>
          </a:p>
        </p:txBody>
      </p:sp>
      <p:sp>
        <p:nvSpPr>
          <p:cNvPr id="20" name="Text 18"/>
          <p:cNvSpPr/>
          <p:nvPr/>
        </p:nvSpPr>
        <p:spPr>
          <a:xfrm>
            <a:off x="685800" y="5303520"/>
            <a:ext cx="9966960" cy="502920"/>
          </a:xfrm>
          <a:prstGeom prst="rect">
            <a:avLst/>
          </a:prstGeom>
          <a:noFill/>
          <a:ln/>
        </p:spPr>
        <p:txBody>
          <a:bodyPr wrap="square" lIns="0" tIns="0" rIns="0" bIns="0" rtlCol="0" anchor="t">
            <a:normAutofit/>
          </a:bodyPr>
          <a:lstStyle/>
          <a:p>
            <a:pPr algn="l" indent="0" marL="0">
              <a:buNone/>
            </a:pPr>
            <a:r>
              <a:rPr lang="en-US" sz="1900" b="1" dirty="0">
                <a:solidFill>
                  <a:srgbClr val="1F2933"/>
                </a:solidFill>
                <a:latin typeface="Arial" pitchFamily="34" charset="0"/>
                <a:ea typeface="Arial" pitchFamily="34" charset="-122"/>
                <a:cs typeface="Arial" pitchFamily="34" charset="-120"/>
              </a:rPr>
              <a:t>Build a regression model to test these drivers together and separate real signal from overlapping effects.</a:t>
            </a:r>
            <a:endParaRPr lang="en-US" sz="1900" dirty="0"/>
          </a:p>
        </p:txBody>
      </p:sp>
      <p:sp>
        <p:nvSpPr>
          <p:cNvPr id="21" name="Text 19"/>
          <p:cNvSpPr/>
          <p:nvPr/>
        </p:nvSpPr>
        <p:spPr>
          <a:xfrm>
            <a:off x="685800" y="6035040"/>
            <a:ext cx="7315200" cy="274320"/>
          </a:xfrm>
          <a:prstGeom prst="rect">
            <a:avLst/>
          </a:prstGeom>
          <a:noFill/>
          <a:ln/>
        </p:spPr>
        <p:txBody>
          <a:bodyPr wrap="square" lIns="0" tIns="0" rIns="0" bIns="0" rtlCol="0" anchor="t">
            <a:normAutofit/>
          </a:bodyPr>
          <a:lstStyle/>
          <a:p>
            <a:pPr algn="l" indent="0" marL="0">
              <a:buNone/>
            </a:pPr>
            <a:r>
              <a:rPr lang="en-US" sz="1350" dirty="0">
                <a:solidFill>
                  <a:srgbClr val="52606D"/>
                </a:solidFill>
                <a:latin typeface="Arial" pitchFamily="34" charset="0"/>
                <a:ea typeface="Arial" pitchFamily="34" charset="-122"/>
                <a:cs typeface="Arial" pitchFamily="34" charset="-120"/>
              </a:rPr>
              <a:t>Use this deck as an initial story, not a final model.</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Yoobee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Housing Prices Dataset: Initial Story</dc:title>
  <dc:subject>Initial story from Housing Prices Dataset</dc:subject>
  <dc:creator>Yoobee Data Analytics</dc:creator>
  <cp:lastModifiedBy>Yoobee Data Analytics</cp:lastModifiedBy>
  <cp:revision>1</cp:revision>
  <dcterms:created xsi:type="dcterms:W3CDTF">2026-04-12T03:56:10Z</dcterms:created>
  <dcterms:modified xsi:type="dcterms:W3CDTF">2026-04-12T03:56:10Z</dcterms:modified>
</cp:coreProperties>
</file>