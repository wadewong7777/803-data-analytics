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76" autoAdjust="0"/>
  </p:normalViewPr>
  <p:slideViewPr>
    <p:cSldViewPr snapToGrid="0" snapToObjects="1">
      <p:cViewPr varScale="1">
        <p:scale>
          <a:sx n="53" d="100"/>
          <a:sy n="53" d="100"/>
        </p:scale>
        <p:origin x="7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61661-BE9F-47F8-8658-E638549DAD78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AB3E8D-86AA-45BD-8A78-FDE1795D3DB2}">
      <dgm:prSet/>
      <dgm:spPr/>
      <dgm:t>
        <a:bodyPr/>
        <a:lstStyle/>
        <a:p>
          <a:r>
            <a:rPr lang="en-US"/>
            <a:t>• Convolutional Neural Networks (CNNs) are deep learning algorithms designed for image classification.</a:t>
          </a:r>
        </a:p>
      </dgm:t>
    </dgm:pt>
    <dgm:pt modelId="{0F1B2D1A-9C2B-4D2C-952D-4AE6F564DA58}" type="parTrans" cxnId="{796A6C80-0C9C-4031-94A7-6292710C8EA9}">
      <dgm:prSet/>
      <dgm:spPr/>
      <dgm:t>
        <a:bodyPr/>
        <a:lstStyle/>
        <a:p>
          <a:endParaRPr lang="en-US"/>
        </a:p>
      </dgm:t>
    </dgm:pt>
    <dgm:pt modelId="{1A967243-78A7-46E3-92FD-FA08E8868CE3}" type="sibTrans" cxnId="{796A6C80-0C9C-4031-94A7-6292710C8EA9}">
      <dgm:prSet/>
      <dgm:spPr/>
      <dgm:t>
        <a:bodyPr/>
        <a:lstStyle/>
        <a:p>
          <a:endParaRPr lang="en-US"/>
        </a:p>
      </dgm:t>
    </dgm:pt>
    <dgm:pt modelId="{961A30A6-396D-4038-97BF-509BD0C81E72}">
      <dgm:prSet/>
      <dgm:spPr/>
      <dgm:t>
        <a:bodyPr/>
        <a:lstStyle/>
        <a:p>
          <a:r>
            <a:rPr lang="en-US"/>
            <a:t>• They consist of multiple layers, including convolutional layers, pooling layers, and fully connected layers.</a:t>
          </a:r>
        </a:p>
      </dgm:t>
    </dgm:pt>
    <dgm:pt modelId="{5DAA00B2-BA2A-4204-A248-B7C6011CF49C}" type="parTrans" cxnId="{33729E71-4A19-41E5-A029-CE231F958BE6}">
      <dgm:prSet/>
      <dgm:spPr/>
      <dgm:t>
        <a:bodyPr/>
        <a:lstStyle/>
        <a:p>
          <a:endParaRPr lang="en-US"/>
        </a:p>
      </dgm:t>
    </dgm:pt>
    <dgm:pt modelId="{A19729EF-27AB-4758-93CD-7C7EED14E38C}" type="sibTrans" cxnId="{33729E71-4A19-41E5-A029-CE231F958BE6}">
      <dgm:prSet/>
      <dgm:spPr/>
      <dgm:t>
        <a:bodyPr/>
        <a:lstStyle/>
        <a:p>
          <a:endParaRPr lang="en-US"/>
        </a:p>
      </dgm:t>
    </dgm:pt>
    <dgm:pt modelId="{368C793D-41E1-4419-910D-5EB0EFAE7CAF}">
      <dgm:prSet/>
      <dgm:spPr/>
      <dgm:t>
        <a:bodyPr/>
        <a:lstStyle/>
        <a:p>
          <a:r>
            <a:rPr lang="en-US"/>
            <a:t>• CNNs are widely used in image recognition, medical imaging, and computer vision applications.</a:t>
          </a:r>
        </a:p>
      </dgm:t>
    </dgm:pt>
    <dgm:pt modelId="{57546D84-84BD-43B3-8B73-912D31F536F0}" type="parTrans" cxnId="{F70AE584-0771-476E-85D6-6A3713F6C902}">
      <dgm:prSet/>
      <dgm:spPr/>
      <dgm:t>
        <a:bodyPr/>
        <a:lstStyle/>
        <a:p>
          <a:endParaRPr lang="en-US"/>
        </a:p>
      </dgm:t>
    </dgm:pt>
    <dgm:pt modelId="{AA64E519-F8CD-483E-B330-7FC1DA3AABEF}" type="sibTrans" cxnId="{F70AE584-0771-476E-85D6-6A3713F6C902}">
      <dgm:prSet/>
      <dgm:spPr/>
      <dgm:t>
        <a:bodyPr/>
        <a:lstStyle/>
        <a:p>
          <a:endParaRPr lang="en-US"/>
        </a:p>
      </dgm:t>
    </dgm:pt>
    <dgm:pt modelId="{0676F665-E5A4-43F1-A643-09FB51E20991}" type="pres">
      <dgm:prSet presAssocID="{E6361661-BE9F-47F8-8658-E638549DAD78}" presName="Name0" presStyleCnt="0">
        <dgm:presLayoutVars>
          <dgm:dir/>
          <dgm:animLvl val="lvl"/>
          <dgm:resizeHandles val="exact"/>
        </dgm:presLayoutVars>
      </dgm:prSet>
      <dgm:spPr/>
    </dgm:pt>
    <dgm:pt modelId="{CF9DED68-5F2E-40E4-8BCD-04D6CB129438}" type="pres">
      <dgm:prSet presAssocID="{368C793D-41E1-4419-910D-5EB0EFAE7CAF}" presName="boxAndChildren" presStyleCnt="0"/>
      <dgm:spPr/>
    </dgm:pt>
    <dgm:pt modelId="{FA819894-927A-432E-93A3-3429329CC921}" type="pres">
      <dgm:prSet presAssocID="{368C793D-41E1-4419-910D-5EB0EFAE7CAF}" presName="parentTextBox" presStyleLbl="node1" presStyleIdx="0" presStyleCnt="3"/>
      <dgm:spPr/>
    </dgm:pt>
    <dgm:pt modelId="{3A7BDD19-F7A3-4230-867A-2433B8747314}" type="pres">
      <dgm:prSet presAssocID="{A19729EF-27AB-4758-93CD-7C7EED14E38C}" presName="sp" presStyleCnt="0"/>
      <dgm:spPr/>
    </dgm:pt>
    <dgm:pt modelId="{90DB5E83-B0ED-4AE5-81F9-B59BF1B2004F}" type="pres">
      <dgm:prSet presAssocID="{961A30A6-396D-4038-97BF-509BD0C81E72}" presName="arrowAndChildren" presStyleCnt="0"/>
      <dgm:spPr/>
    </dgm:pt>
    <dgm:pt modelId="{60AE1144-4A24-4766-8163-B516FFC122FF}" type="pres">
      <dgm:prSet presAssocID="{961A30A6-396D-4038-97BF-509BD0C81E72}" presName="parentTextArrow" presStyleLbl="node1" presStyleIdx="1" presStyleCnt="3"/>
      <dgm:spPr/>
    </dgm:pt>
    <dgm:pt modelId="{570251F7-A8D4-47A2-B554-540F62E8DBDA}" type="pres">
      <dgm:prSet presAssocID="{1A967243-78A7-46E3-92FD-FA08E8868CE3}" presName="sp" presStyleCnt="0"/>
      <dgm:spPr/>
    </dgm:pt>
    <dgm:pt modelId="{8CC2C4CE-09D9-4768-A987-E1601D48A243}" type="pres">
      <dgm:prSet presAssocID="{2DAB3E8D-86AA-45BD-8A78-FDE1795D3DB2}" presName="arrowAndChildren" presStyleCnt="0"/>
      <dgm:spPr/>
    </dgm:pt>
    <dgm:pt modelId="{6508B6B3-BACB-4565-8CB2-5C8F3ECEB09A}" type="pres">
      <dgm:prSet presAssocID="{2DAB3E8D-86AA-45BD-8A78-FDE1795D3DB2}" presName="parentTextArrow" presStyleLbl="node1" presStyleIdx="2" presStyleCnt="3"/>
      <dgm:spPr/>
    </dgm:pt>
  </dgm:ptLst>
  <dgm:cxnLst>
    <dgm:cxn modelId="{B74D1B0D-2F02-47AD-B91E-99C7F2D73E74}" type="presOf" srcId="{E6361661-BE9F-47F8-8658-E638549DAD78}" destId="{0676F665-E5A4-43F1-A643-09FB51E20991}" srcOrd="0" destOrd="0" presId="urn:microsoft.com/office/officeart/2005/8/layout/process4"/>
    <dgm:cxn modelId="{EAD34326-F3CF-4793-869B-F1D231EB7507}" type="presOf" srcId="{961A30A6-396D-4038-97BF-509BD0C81E72}" destId="{60AE1144-4A24-4766-8163-B516FFC122FF}" srcOrd="0" destOrd="0" presId="urn:microsoft.com/office/officeart/2005/8/layout/process4"/>
    <dgm:cxn modelId="{33729E71-4A19-41E5-A029-CE231F958BE6}" srcId="{E6361661-BE9F-47F8-8658-E638549DAD78}" destId="{961A30A6-396D-4038-97BF-509BD0C81E72}" srcOrd="1" destOrd="0" parTransId="{5DAA00B2-BA2A-4204-A248-B7C6011CF49C}" sibTransId="{A19729EF-27AB-4758-93CD-7C7EED14E38C}"/>
    <dgm:cxn modelId="{796A6C80-0C9C-4031-94A7-6292710C8EA9}" srcId="{E6361661-BE9F-47F8-8658-E638549DAD78}" destId="{2DAB3E8D-86AA-45BD-8A78-FDE1795D3DB2}" srcOrd="0" destOrd="0" parTransId="{0F1B2D1A-9C2B-4D2C-952D-4AE6F564DA58}" sibTransId="{1A967243-78A7-46E3-92FD-FA08E8868CE3}"/>
    <dgm:cxn modelId="{F70AE584-0771-476E-85D6-6A3713F6C902}" srcId="{E6361661-BE9F-47F8-8658-E638549DAD78}" destId="{368C793D-41E1-4419-910D-5EB0EFAE7CAF}" srcOrd="2" destOrd="0" parTransId="{57546D84-84BD-43B3-8B73-912D31F536F0}" sibTransId="{AA64E519-F8CD-483E-B330-7FC1DA3AABEF}"/>
    <dgm:cxn modelId="{6617BB93-DB42-4CD8-9213-91C2C97A0D1C}" type="presOf" srcId="{2DAB3E8D-86AA-45BD-8A78-FDE1795D3DB2}" destId="{6508B6B3-BACB-4565-8CB2-5C8F3ECEB09A}" srcOrd="0" destOrd="0" presId="urn:microsoft.com/office/officeart/2005/8/layout/process4"/>
    <dgm:cxn modelId="{DEF43BE5-1C1D-44E8-ACBD-43A74ABA4AA2}" type="presOf" srcId="{368C793D-41E1-4419-910D-5EB0EFAE7CAF}" destId="{FA819894-927A-432E-93A3-3429329CC921}" srcOrd="0" destOrd="0" presId="urn:microsoft.com/office/officeart/2005/8/layout/process4"/>
    <dgm:cxn modelId="{3818EE24-8F9B-4920-8196-B4DE0696863C}" type="presParOf" srcId="{0676F665-E5A4-43F1-A643-09FB51E20991}" destId="{CF9DED68-5F2E-40E4-8BCD-04D6CB129438}" srcOrd="0" destOrd="0" presId="urn:microsoft.com/office/officeart/2005/8/layout/process4"/>
    <dgm:cxn modelId="{26A08B71-2304-4180-AB9A-A42E2C309767}" type="presParOf" srcId="{CF9DED68-5F2E-40E4-8BCD-04D6CB129438}" destId="{FA819894-927A-432E-93A3-3429329CC921}" srcOrd="0" destOrd="0" presId="urn:microsoft.com/office/officeart/2005/8/layout/process4"/>
    <dgm:cxn modelId="{2EDF2530-4B67-4491-B050-5543CC0B280D}" type="presParOf" srcId="{0676F665-E5A4-43F1-A643-09FB51E20991}" destId="{3A7BDD19-F7A3-4230-867A-2433B8747314}" srcOrd="1" destOrd="0" presId="urn:microsoft.com/office/officeart/2005/8/layout/process4"/>
    <dgm:cxn modelId="{016CACBE-E838-4147-85C4-2BBB873C45A3}" type="presParOf" srcId="{0676F665-E5A4-43F1-A643-09FB51E20991}" destId="{90DB5E83-B0ED-4AE5-81F9-B59BF1B2004F}" srcOrd="2" destOrd="0" presId="urn:microsoft.com/office/officeart/2005/8/layout/process4"/>
    <dgm:cxn modelId="{CBEF9567-E141-43B2-960C-963347820ABC}" type="presParOf" srcId="{90DB5E83-B0ED-4AE5-81F9-B59BF1B2004F}" destId="{60AE1144-4A24-4766-8163-B516FFC122FF}" srcOrd="0" destOrd="0" presId="urn:microsoft.com/office/officeart/2005/8/layout/process4"/>
    <dgm:cxn modelId="{6C636269-AE0D-4E68-8A4B-1E60E1E59FD7}" type="presParOf" srcId="{0676F665-E5A4-43F1-A643-09FB51E20991}" destId="{570251F7-A8D4-47A2-B554-540F62E8DBDA}" srcOrd="3" destOrd="0" presId="urn:microsoft.com/office/officeart/2005/8/layout/process4"/>
    <dgm:cxn modelId="{27C1FD34-0017-4511-97C7-3A168E1FFB8E}" type="presParOf" srcId="{0676F665-E5A4-43F1-A643-09FB51E20991}" destId="{8CC2C4CE-09D9-4768-A987-E1601D48A243}" srcOrd="4" destOrd="0" presId="urn:microsoft.com/office/officeart/2005/8/layout/process4"/>
    <dgm:cxn modelId="{B1C442EE-3EF0-45D1-9E35-322DC762337B}" type="presParOf" srcId="{8CC2C4CE-09D9-4768-A987-E1601D48A243}" destId="{6508B6B3-BACB-4565-8CB2-5C8F3ECEB09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6CF734-8E55-48E1-8480-AFDBEBB147B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265046E-A9FC-41F2-BD24-AE0CF0A1299B}">
      <dgm:prSet/>
      <dgm:spPr/>
      <dgm:t>
        <a:bodyPr/>
        <a:lstStyle/>
        <a:p>
          <a:r>
            <a:rPr lang="en-US" dirty="0"/>
            <a:t>• CNNs have revolutionized image classification by automatically extracting features from images.</a:t>
          </a:r>
        </a:p>
      </dgm:t>
    </dgm:pt>
    <dgm:pt modelId="{C094E5B8-4253-4B07-BEAB-55BB8BE74295}" type="parTrans" cxnId="{D07FC48C-684D-4036-9BE7-476E9A539F39}">
      <dgm:prSet/>
      <dgm:spPr/>
      <dgm:t>
        <a:bodyPr/>
        <a:lstStyle/>
        <a:p>
          <a:endParaRPr lang="en-US"/>
        </a:p>
      </dgm:t>
    </dgm:pt>
    <dgm:pt modelId="{5C79E3DF-382C-401B-8923-8941DD43CC03}" type="sibTrans" cxnId="{D07FC48C-684D-4036-9BE7-476E9A539F39}">
      <dgm:prSet/>
      <dgm:spPr/>
      <dgm:t>
        <a:bodyPr/>
        <a:lstStyle/>
        <a:p>
          <a:endParaRPr lang="en-US"/>
        </a:p>
      </dgm:t>
    </dgm:pt>
    <dgm:pt modelId="{1EA7543E-B194-42C7-AAE8-949C52036416}">
      <dgm:prSet/>
      <dgm:spPr/>
      <dgm:t>
        <a:bodyPr/>
        <a:lstStyle/>
        <a:p>
          <a:r>
            <a:rPr lang="en-US"/>
            <a:t>• Multi-level classification allows detailed hierarchical categorization of objects.</a:t>
          </a:r>
        </a:p>
      </dgm:t>
    </dgm:pt>
    <dgm:pt modelId="{1EA25318-F3DE-4261-989C-29CF430E5921}" type="parTrans" cxnId="{700CEC8E-32FC-412C-AE57-7E813C94492D}">
      <dgm:prSet/>
      <dgm:spPr/>
      <dgm:t>
        <a:bodyPr/>
        <a:lstStyle/>
        <a:p>
          <a:endParaRPr lang="en-US"/>
        </a:p>
      </dgm:t>
    </dgm:pt>
    <dgm:pt modelId="{E5AF31B7-7B1B-4C47-95DC-1E57F41B1C83}" type="sibTrans" cxnId="{700CEC8E-32FC-412C-AE57-7E813C94492D}">
      <dgm:prSet/>
      <dgm:spPr/>
      <dgm:t>
        <a:bodyPr/>
        <a:lstStyle/>
        <a:p>
          <a:endParaRPr lang="en-US"/>
        </a:p>
      </dgm:t>
    </dgm:pt>
    <dgm:pt modelId="{2231721D-7634-44CC-A2C3-27C010C809F2}">
      <dgm:prSet/>
      <dgm:spPr/>
      <dgm:t>
        <a:bodyPr/>
        <a:lstStyle/>
        <a:p>
          <a:r>
            <a:rPr lang="en-US"/>
            <a:t>• Advanced CNN models like ResNet and EfficientNet improve accuracy and efficiency.</a:t>
          </a:r>
        </a:p>
      </dgm:t>
    </dgm:pt>
    <dgm:pt modelId="{C45419B1-DF69-40CA-ABD4-AC7314810D49}" type="parTrans" cxnId="{19E9F9E4-AACE-41FF-A1DA-E86ACFE7F040}">
      <dgm:prSet/>
      <dgm:spPr/>
      <dgm:t>
        <a:bodyPr/>
        <a:lstStyle/>
        <a:p>
          <a:endParaRPr lang="en-US"/>
        </a:p>
      </dgm:t>
    </dgm:pt>
    <dgm:pt modelId="{B96CFC9D-2AC2-4DEB-B73D-D67D2F0BCE59}" type="sibTrans" cxnId="{19E9F9E4-AACE-41FF-A1DA-E86ACFE7F040}">
      <dgm:prSet/>
      <dgm:spPr/>
      <dgm:t>
        <a:bodyPr/>
        <a:lstStyle/>
        <a:p>
          <a:endParaRPr lang="en-US"/>
        </a:p>
      </dgm:t>
    </dgm:pt>
    <dgm:pt modelId="{0A4930B7-7275-44C1-A4A8-D305B85C5DD6}">
      <dgm:prSet/>
      <dgm:spPr/>
      <dgm:t>
        <a:bodyPr/>
        <a:lstStyle/>
        <a:p>
          <a:r>
            <a:rPr lang="en-US"/>
            <a:t>• CNNs are widely applied in healthcare, security, and autonomous systems.</a:t>
          </a:r>
        </a:p>
      </dgm:t>
    </dgm:pt>
    <dgm:pt modelId="{5201D992-C1C6-4105-955A-E6B10BD7B75C}" type="parTrans" cxnId="{0654D590-B8D7-4D1A-A195-F526F0FAB938}">
      <dgm:prSet/>
      <dgm:spPr/>
      <dgm:t>
        <a:bodyPr/>
        <a:lstStyle/>
        <a:p>
          <a:endParaRPr lang="en-US"/>
        </a:p>
      </dgm:t>
    </dgm:pt>
    <dgm:pt modelId="{A5AFD70B-6DF5-4809-B1F8-AD912111AE8C}" type="sibTrans" cxnId="{0654D590-B8D7-4D1A-A195-F526F0FAB938}">
      <dgm:prSet/>
      <dgm:spPr/>
      <dgm:t>
        <a:bodyPr/>
        <a:lstStyle/>
        <a:p>
          <a:endParaRPr lang="en-US"/>
        </a:p>
      </dgm:t>
    </dgm:pt>
    <dgm:pt modelId="{667F9D76-CFA8-472E-8DB4-C4DEF645FC9B}" type="pres">
      <dgm:prSet presAssocID="{586CF734-8E55-48E1-8480-AFDBEBB147B8}" presName="outerComposite" presStyleCnt="0">
        <dgm:presLayoutVars>
          <dgm:chMax val="5"/>
          <dgm:dir/>
          <dgm:resizeHandles val="exact"/>
        </dgm:presLayoutVars>
      </dgm:prSet>
      <dgm:spPr/>
    </dgm:pt>
    <dgm:pt modelId="{8002F2C4-A538-4879-BEB9-A69BD9FFEC95}" type="pres">
      <dgm:prSet presAssocID="{586CF734-8E55-48E1-8480-AFDBEBB147B8}" presName="dummyMaxCanvas" presStyleCnt="0">
        <dgm:presLayoutVars/>
      </dgm:prSet>
      <dgm:spPr/>
    </dgm:pt>
    <dgm:pt modelId="{58001728-CC02-4C9B-81D8-8468BE5D0F5A}" type="pres">
      <dgm:prSet presAssocID="{586CF734-8E55-48E1-8480-AFDBEBB147B8}" presName="FourNodes_1" presStyleLbl="node1" presStyleIdx="0" presStyleCnt="4">
        <dgm:presLayoutVars>
          <dgm:bulletEnabled val="1"/>
        </dgm:presLayoutVars>
      </dgm:prSet>
      <dgm:spPr/>
    </dgm:pt>
    <dgm:pt modelId="{10514C02-19DA-4F26-BCAA-88B00E219BB8}" type="pres">
      <dgm:prSet presAssocID="{586CF734-8E55-48E1-8480-AFDBEBB147B8}" presName="FourNodes_2" presStyleLbl="node1" presStyleIdx="1" presStyleCnt="4">
        <dgm:presLayoutVars>
          <dgm:bulletEnabled val="1"/>
        </dgm:presLayoutVars>
      </dgm:prSet>
      <dgm:spPr/>
    </dgm:pt>
    <dgm:pt modelId="{52D074FD-D8DF-4EE3-8078-7477BEF04001}" type="pres">
      <dgm:prSet presAssocID="{586CF734-8E55-48E1-8480-AFDBEBB147B8}" presName="FourNodes_3" presStyleLbl="node1" presStyleIdx="2" presStyleCnt="4">
        <dgm:presLayoutVars>
          <dgm:bulletEnabled val="1"/>
        </dgm:presLayoutVars>
      </dgm:prSet>
      <dgm:spPr/>
    </dgm:pt>
    <dgm:pt modelId="{1DB8486B-21A3-4212-B0DC-377451E26E05}" type="pres">
      <dgm:prSet presAssocID="{586CF734-8E55-48E1-8480-AFDBEBB147B8}" presName="FourNodes_4" presStyleLbl="node1" presStyleIdx="3" presStyleCnt="4">
        <dgm:presLayoutVars>
          <dgm:bulletEnabled val="1"/>
        </dgm:presLayoutVars>
      </dgm:prSet>
      <dgm:spPr/>
    </dgm:pt>
    <dgm:pt modelId="{1F7CD91D-29CE-4EE3-93E0-5E7C0CB6D97E}" type="pres">
      <dgm:prSet presAssocID="{586CF734-8E55-48E1-8480-AFDBEBB147B8}" presName="FourConn_1-2" presStyleLbl="fgAccFollowNode1" presStyleIdx="0" presStyleCnt="3">
        <dgm:presLayoutVars>
          <dgm:bulletEnabled val="1"/>
        </dgm:presLayoutVars>
      </dgm:prSet>
      <dgm:spPr/>
    </dgm:pt>
    <dgm:pt modelId="{A0844D35-A2A8-46DD-AFDC-89D5D6996B8C}" type="pres">
      <dgm:prSet presAssocID="{586CF734-8E55-48E1-8480-AFDBEBB147B8}" presName="FourConn_2-3" presStyleLbl="fgAccFollowNode1" presStyleIdx="1" presStyleCnt="3">
        <dgm:presLayoutVars>
          <dgm:bulletEnabled val="1"/>
        </dgm:presLayoutVars>
      </dgm:prSet>
      <dgm:spPr/>
    </dgm:pt>
    <dgm:pt modelId="{BADEA056-A0DB-492C-BF79-F3D97C2012D7}" type="pres">
      <dgm:prSet presAssocID="{586CF734-8E55-48E1-8480-AFDBEBB147B8}" presName="FourConn_3-4" presStyleLbl="fgAccFollowNode1" presStyleIdx="2" presStyleCnt="3">
        <dgm:presLayoutVars>
          <dgm:bulletEnabled val="1"/>
        </dgm:presLayoutVars>
      </dgm:prSet>
      <dgm:spPr/>
    </dgm:pt>
    <dgm:pt modelId="{7823239B-EE91-4128-A81B-E00A44E7D3F1}" type="pres">
      <dgm:prSet presAssocID="{586CF734-8E55-48E1-8480-AFDBEBB147B8}" presName="FourNodes_1_text" presStyleLbl="node1" presStyleIdx="3" presStyleCnt="4">
        <dgm:presLayoutVars>
          <dgm:bulletEnabled val="1"/>
        </dgm:presLayoutVars>
      </dgm:prSet>
      <dgm:spPr/>
    </dgm:pt>
    <dgm:pt modelId="{C3170E08-FA83-49F4-B7F4-0E70E5DE91D5}" type="pres">
      <dgm:prSet presAssocID="{586CF734-8E55-48E1-8480-AFDBEBB147B8}" presName="FourNodes_2_text" presStyleLbl="node1" presStyleIdx="3" presStyleCnt="4">
        <dgm:presLayoutVars>
          <dgm:bulletEnabled val="1"/>
        </dgm:presLayoutVars>
      </dgm:prSet>
      <dgm:spPr/>
    </dgm:pt>
    <dgm:pt modelId="{2FC0B3AA-B01B-49D8-AED0-C3D43DB54218}" type="pres">
      <dgm:prSet presAssocID="{586CF734-8E55-48E1-8480-AFDBEBB147B8}" presName="FourNodes_3_text" presStyleLbl="node1" presStyleIdx="3" presStyleCnt="4">
        <dgm:presLayoutVars>
          <dgm:bulletEnabled val="1"/>
        </dgm:presLayoutVars>
      </dgm:prSet>
      <dgm:spPr/>
    </dgm:pt>
    <dgm:pt modelId="{FB8B9B7E-1B51-43C2-B314-971801750E2E}" type="pres">
      <dgm:prSet presAssocID="{586CF734-8E55-48E1-8480-AFDBEBB147B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C1B330C-C260-417C-B844-D69F232D7BC4}" type="presOf" srcId="{2231721D-7634-44CC-A2C3-27C010C809F2}" destId="{2FC0B3AA-B01B-49D8-AED0-C3D43DB54218}" srcOrd="1" destOrd="0" presId="urn:microsoft.com/office/officeart/2005/8/layout/vProcess5"/>
    <dgm:cxn modelId="{13272429-DDB1-409C-972D-629A3A78682F}" type="presOf" srcId="{0A4930B7-7275-44C1-A4A8-D305B85C5DD6}" destId="{1DB8486B-21A3-4212-B0DC-377451E26E05}" srcOrd="0" destOrd="0" presId="urn:microsoft.com/office/officeart/2005/8/layout/vProcess5"/>
    <dgm:cxn modelId="{C8D1564D-48DA-4F7D-8A5F-8A99E18DF8D0}" type="presOf" srcId="{0A4930B7-7275-44C1-A4A8-D305B85C5DD6}" destId="{FB8B9B7E-1B51-43C2-B314-971801750E2E}" srcOrd="1" destOrd="0" presId="urn:microsoft.com/office/officeart/2005/8/layout/vProcess5"/>
    <dgm:cxn modelId="{DC87414F-614C-4C41-9C28-51C52BC2CCC3}" type="presOf" srcId="{2231721D-7634-44CC-A2C3-27C010C809F2}" destId="{52D074FD-D8DF-4EE3-8078-7477BEF04001}" srcOrd="0" destOrd="0" presId="urn:microsoft.com/office/officeart/2005/8/layout/vProcess5"/>
    <dgm:cxn modelId="{86309F78-2513-4CA0-804B-41794D383E70}" type="presOf" srcId="{1EA7543E-B194-42C7-AAE8-949C52036416}" destId="{10514C02-19DA-4F26-BCAA-88B00E219BB8}" srcOrd="0" destOrd="0" presId="urn:microsoft.com/office/officeart/2005/8/layout/vProcess5"/>
    <dgm:cxn modelId="{81A1B758-05F1-457D-81AB-7FE56F2C85C7}" type="presOf" srcId="{4265046E-A9FC-41F2-BD24-AE0CF0A1299B}" destId="{58001728-CC02-4C9B-81D8-8468BE5D0F5A}" srcOrd="0" destOrd="0" presId="urn:microsoft.com/office/officeart/2005/8/layout/vProcess5"/>
    <dgm:cxn modelId="{D07FC48C-684D-4036-9BE7-476E9A539F39}" srcId="{586CF734-8E55-48E1-8480-AFDBEBB147B8}" destId="{4265046E-A9FC-41F2-BD24-AE0CF0A1299B}" srcOrd="0" destOrd="0" parTransId="{C094E5B8-4253-4B07-BEAB-55BB8BE74295}" sibTransId="{5C79E3DF-382C-401B-8923-8941DD43CC03}"/>
    <dgm:cxn modelId="{700CEC8E-32FC-412C-AE57-7E813C94492D}" srcId="{586CF734-8E55-48E1-8480-AFDBEBB147B8}" destId="{1EA7543E-B194-42C7-AAE8-949C52036416}" srcOrd="1" destOrd="0" parTransId="{1EA25318-F3DE-4261-989C-29CF430E5921}" sibTransId="{E5AF31B7-7B1B-4C47-95DC-1E57F41B1C83}"/>
    <dgm:cxn modelId="{0654D590-B8D7-4D1A-A195-F526F0FAB938}" srcId="{586CF734-8E55-48E1-8480-AFDBEBB147B8}" destId="{0A4930B7-7275-44C1-A4A8-D305B85C5DD6}" srcOrd="3" destOrd="0" parTransId="{5201D992-C1C6-4105-955A-E6B10BD7B75C}" sibTransId="{A5AFD70B-6DF5-4809-B1F8-AD912111AE8C}"/>
    <dgm:cxn modelId="{BEC0F49C-5713-46A6-8723-567511BEA18C}" type="presOf" srcId="{B96CFC9D-2AC2-4DEB-B73D-D67D2F0BCE59}" destId="{BADEA056-A0DB-492C-BF79-F3D97C2012D7}" srcOrd="0" destOrd="0" presId="urn:microsoft.com/office/officeart/2005/8/layout/vProcess5"/>
    <dgm:cxn modelId="{9690E1A5-072A-40F8-BAC0-9FD8FC1ED394}" type="presOf" srcId="{1EA7543E-B194-42C7-AAE8-949C52036416}" destId="{C3170E08-FA83-49F4-B7F4-0E70E5DE91D5}" srcOrd="1" destOrd="0" presId="urn:microsoft.com/office/officeart/2005/8/layout/vProcess5"/>
    <dgm:cxn modelId="{BC9D1FA7-3000-4147-9CCE-F4D2EF48F4F5}" type="presOf" srcId="{5C79E3DF-382C-401B-8923-8941DD43CC03}" destId="{1F7CD91D-29CE-4EE3-93E0-5E7C0CB6D97E}" srcOrd="0" destOrd="0" presId="urn:microsoft.com/office/officeart/2005/8/layout/vProcess5"/>
    <dgm:cxn modelId="{327C1ACC-B060-4E57-80EE-516CA22F2A6E}" type="presOf" srcId="{E5AF31B7-7B1B-4C47-95DC-1E57F41B1C83}" destId="{A0844D35-A2A8-46DD-AFDC-89D5D6996B8C}" srcOrd="0" destOrd="0" presId="urn:microsoft.com/office/officeart/2005/8/layout/vProcess5"/>
    <dgm:cxn modelId="{C33672D9-1254-45FF-93F5-C12ACB4EED63}" type="presOf" srcId="{586CF734-8E55-48E1-8480-AFDBEBB147B8}" destId="{667F9D76-CFA8-472E-8DB4-C4DEF645FC9B}" srcOrd="0" destOrd="0" presId="urn:microsoft.com/office/officeart/2005/8/layout/vProcess5"/>
    <dgm:cxn modelId="{19E9F9E4-AACE-41FF-A1DA-E86ACFE7F040}" srcId="{586CF734-8E55-48E1-8480-AFDBEBB147B8}" destId="{2231721D-7634-44CC-A2C3-27C010C809F2}" srcOrd="2" destOrd="0" parTransId="{C45419B1-DF69-40CA-ABD4-AC7314810D49}" sibTransId="{B96CFC9D-2AC2-4DEB-B73D-D67D2F0BCE59}"/>
    <dgm:cxn modelId="{628C6FF4-5A1F-4CFD-9E2B-30B6A8E8C2D6}" type="presOf" srcId="{4265046E-A9FC-41F2-BD24-AE0CF0A1299B}" destId="{7823239B-EE91-4128-A81B-E00A44E7D3F1}" srcOrd="1" destOrd="0" presId="urn:microsoft.com/office/officeart/2005/8/layout/vProcess5"/>
    <dgm:cxn modelId="{92FFBC39-77D8-4641-91BA-232B9EAE16E1}" type="presParOf" srcId="{667F9D76-CFA8-472E-8DB4-C4DEF645FC9B}" destId="{8002F2C4-A538-4879-BEB9-A69BD9FFEC95}" srcOrd="0" destOrd="0" presId="urn:microsoft.com/office/officeart/2005/8/layout/vProcess5"/>
    <dgm:cxn modelId="{29E90D84-3A6D-4DE7-AEC1-39D06CB660E1}" type="presParOf" srcId="{667F9D76-CFA8-472E-8DB4-C4DEF645FC9B}" destId="{58001728-CC02-4C9B-81D8-8468BE5D0F5A}" srcOrd="1" destOrd="0" presId="urn:microsoft.com/office/officeart/2005/8/layout/vProcess5"/>
    <dgm:cxn modelId="{F380B15A-06A2-49C4-A10E-D2EBE15C25DB}" type="presParOf" srcId="{667F9D76-CFA8-472E-8DB4-C4DEF645FC9B}" destId="{10514C02-19DA-4F26-BCAA-88B00E219BB8}" srcOrd="2" destOrd="0" presId="urn:microsoft.com/office/officeart/2005/8/layout/vProcess5"/>
    <dgm:cxn modelId="{7631A2BD-5695-46C1-B659-48C4559D3FFB}" type="presParOf" srcId="{667F9D76-CFA8-472E-8DB4-C4DEF645FC9B}" destId="{52D074FD-D8DF-4EE3-8078-7477BEF04001}" srcOrd="3" destOrd="0" presId="urn:microsoft.com/office/officeart/2005/8/layout/vProcess5"/>
    <dgm:cxn modelId="{E2E8F1DB-9E40-4B50-9C70-053AF97627EB}" type="presParOf" srcId="{667F9D76-CFA8-472E-8DB4-C4DEF645FC9B}" destId="{1DB8486B-21A3-4212-B0DC-377451E26E05}" srcOrd="4" destOrd="0" presId="urn:microsoft.com/office/officeart/2005/8/layout/vProcess5"/>
    <dgm:cxn modelId="{F61E7ED8-49A3-40DB-97CC-B2FF19165C5F}" type="presParOf" srcId="{667F9D76-CFA8-472E-8DB4-C4DEF645FC9B}" destId="{1F7CD91D-29CE-4EE3-93E0-5E7C0CB6D97E}" srcOrd="5" destOrd="0" presId="urn:microsoft.com/office/officeart/2005/8/layout/vProcess5"/>
    <dgm:cxn modelId="{152AB009-21D8-4945-B719-2E8141E4FECE}" type="presParOf" srcId="{667F9D76-CFA8-472E-8DB4-C4DEF645FC9B}" destId="{A0844D35-A2A8-46DD-AFDC-89D5D6996B8C}" srcOrd="6" destOrd="0" presId="urn:microsoft.com/office/officeart/2005/8/layout/vProcess5"/>
    <dgm:cxn modelId="{DF4E4B5D-F4FC-43C6-96B6-77B0FBA4A57D}" type="presParOf" srcId="{667F9D76-CFA8-472E-8DB4-C4DEF645FC9B}" destId="{BADEA056-A0DB-492C-BF79-F3D97C2012D7}" srcOrd="7" destOrd="0" presId="urn:microsoft.com/office/officeart/2005/8/layout/vProcess5"/>
    <dgm:cxn modelId="{A24C39C2-6441-4E13-B525-80933E8A45E8}" type="presParOf" srcId="{667F9D76-CFA8-472E-8DB4-C4DEF645FC9B}" destId="{7823239B-EE91-4128-A81B-E00A44E7D3F1}" srcOrd="8" destOrd="0" presId="urn:microsoft.com/office/officeart/2005/8/layout/vProcess5"/>
    <dgm:cxn modelId="{63D693F2-7FE2-49D8-8075-C7BCE7C8E89C}" type="presParOf" srcId="{667F9D76-CFA8-472E-8DB4-C4DEF645FC9B}" destId="{C3170E08-FA83-49F4-B7F4-0E70E5DE91D5}" srcOrd="9" destOrd="0" presId="urn:microsoft.com/office/officeart/2005/8/layout/vProcess5"/>
    <dgm:cxn modelId="{3E64BC93-AF86-46F4-9996-03BFEBCC766C}" type="presParOf" srcId="{667F9D76-CFA8-472E-8DB4-C4DEF645FC9B}" destId="{2FC0B3AA-B01B-49D8-AED0-C3D43DB54218}" srcOrd="10" destOrd="0" presId="urn:microsoft.com/office/officeart/2005/8/layout/vProcess5"/>
    <dgm:cxn modelId="{4CD4F8D1-52AD-44F6-8639-1A676F71156E}" type="presParOf" srcId="{667F9D76-CFA8-472E-8DB4-C4DEF645FC9B}" destId="{FB8B9B7E-1B51-43C2-B314-971801750E2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19894-927A-432E-93A3-3429329CC921}">
      <dsp:nvSpPr>
        <dsp:cNvPr id="0" name=""/>
        <dsp:cNvSpPr/>
      </dsp:nvSpPr>
      <dsp:spPr>
        <a:xfrm>
          <a:off x="0" y="3239445"/>
          <a:ext cx="5036058" cy="10632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CNNs are widely used in image recognition, medical imaging, and computer vision applications.</a:t>
          </a:r>
        </a:p>
      </dsp:txBody>
      <dsp:txXfrm>
        <a:off x="0" y="3239445"/>
        <a:ext cx="5036058" cy="1063258"/>
      </dsp:txXfrm>
    </dsp:sp>
    <dsp:sp modelId="{60AE1144-4A24-4766-8163-B516FFC122FF}">
      <dsp:nvSpPr>
        <dsp:cNvPr id="0" name=""/>
        <dsp:cNvSpPr/>
      </dsp:nvSpPr>
      <dsp:spPr>
        <a:xfrm rot="10800000">
          <a:off x="0" y="1620103"/>
          <a:ext cx="5036058" cy="163529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They consist of multiple layers, including convolutional layers, pooling layers, and fully connected layers.</a:t>
          </a:r>
        </a:p>
      </dsp:txBody>
      <dsp:txXfrm rot="10800000">
        <a:off x="0" y="1620103"/>
        <a:ext cx="5036058" cy="1062563"/>
      </dsp:txXfrm>
    </dsp:sp>
    <dsp:sp modelId="{6508B6B3-BACB-4565-8CB2-5C8F3ECEB09A}">
      <dsp:nvSpPr>
        <dsp:cNvPr id="0" name=""/>
        <dsp:cNvSpPr/>
      </dsp:nvSpPr>
      <dsp:spPr>
        <a:xfrm rot="10800000">
          <a:off x="0" y="760"/>
          <a:ext cx="5036058" cy="1635291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Convolutional Neural Networks (CNNs) are deep learning algorithms designed for image classification.</a:t>
          </a:r>
        </a:p>
      </dsp:txBody>
      <dsp:txXfrm rot="10800000">
        <a:off x="0" y="760"/>
        <a:ext cx="5036058" cy="1062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01728-CC02-4C9B-81D8-8468BE5D0F5A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CNNs have revolutionized image classification by automatically extracting features from images.</a:t>
          </a:r>
        </a:p>
      </dsp:txBody>
      <dsp:txXfrm>
        <a:off x="28038" y="28038"/>
        <a:ext cx="5195473" cy="901218"/>
      </dsp:txXfrm>
    </dsp:sp>
    <dsp:sp modelId="{10514C02-19DA-4F26-BCAA-88B00E219BB8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Multi-level classification allows detailed hierarchical categorization of objects.</a:t>
          </a:r>
        </a:p>
      </dsp:txBody>
      <dsp:txXfrm>
        <a:off x="556446" y="1159385"/>
        <a:ext cx="5102633" cy="901218"/>
      </dsp:txXfrm>
    </dsp:sp>
    <dsp:sp modelId="{52D074FD-D8DF-4EE3-8078-7477BEF04001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Advanced CNN models like ResNet and EfficientNet improve accuracy and efficiency.</a:t>
          </a:r>
        </a:p>
      </dsp:txBody>
      <dsp:txXfrm>
        <a:off x="1076969" y="2290733"/>
        <a:ext cx="5110520" cy="901218"/>
      </dsp:txXfrm>
    </dsp:sp>
    <dsp:sp modelId="{1DB8486B-21A3-4212-B0DC-377451E26E05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CNNs are widely applied in healthcare, security, and autonomous systems.</a:t>
          </a:r>
        </a:p>
      </dsp:txBody>
      <dsp:txXfrm>
        <a:off x="1605378" y="3422081"/>
        <a:ext cx="5102633" cy="901218"/>
      </dsp:txXfrm>
    </dsp:sp>
    <dsp:sp modelId="{1F7CD91D-29CE-4EE3-93E0-5E7C0CB6D97E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A0844D35-A2A8-46DD-AFDC-89D5D6996B8C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BADEA056-A0DB-492C-BF79-F3D97C2012D7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1E6AA-16DE-48C6-98B0-E0EC2996CA7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7140A-C4CB-4893-9A92-B46AABEA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3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3390/jimaging8030055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Ref: </a:t>
            </a:r>
            <a:r>
              <a:rPr lang="en-US" b="0" i="0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DOI:</a:t>
            </a:r>
            <a:r>
              <a:rPr lang="en-US" b="0" i="0" u="sng" dirty="0">
                <a:effectLst/>
                <a:latin typeface="Roboto" panose="02000000000000000000" pitchFamily="2" charset="0"/>
                <a:hlinkClick r:id="rId3"/>
              </a:rPr>
              <a:t>10.3390/jimaging8030055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7140A-C4CB-4893-9A92-B46AABEA20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50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7140A-C4CB-4893-9A92-B46AABEA20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4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9908" y="1317700"/>
            <a:ext cx="6041898" cy="1876445"/>
          </a:xfrm>
        </p:spPr>
        <p:txBody>
          <a:bodyPr anchor="b">
            <a:normAutofit/>
          </a:bodyPr>
          <a:lstStyle/>
          <a:p>
            <a:r>
              <a:rPr lang="en-US" sz="5700" dirty="0">
                <a:solidFill>
                  <a:srgbClr val="FFFFFF"/>
                </a:solidFill>
              </a:rPr>
              <a:t>CNN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0874" y="4353506"/>
            <a:ext cx="4299966" cy="152993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rgbClr val="FFFFFF"/>
                </a:solidFill>
              </a:rPr>
              <a:t>With a Schematic View of Multi-Level Classification using CNN</a:t>
            </a:r>
          </a:p>
          <a:p>
            <a:pPr>
              <a:lnSpc>
                <a:spcPct val="90000"/>
              </a:lnSpc>
            </a:pPr>
            <a:endParaRPr lang="en-US" sz="2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500" dirty="0">
                <a:solidFill>
                  <a:srgbClr val="FFFFFF"/>
                </a:solidFill>
              </a:rPr>
              <a:t>Presented by Dr Mohammad Norouzifard</a:t>
            </a:r>
          </a:p>
          <a:p>
            <a:pPr>
              <a:lnSpc>
                <a:spcPct val="90000"/>
              </a:lnSpc>
            </a:pPr>
            <a:endParaRPr lang="en-US" sz="2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500" dirty="0" err="1">
                <a:solidFill>
                  <a:srgbClr val="FFFFFF"/>
                </a:solidFill>
              </a:rPr>
              <a:t>YoobeeColleges</a:t>
            </a:r>
            <a:endParaRPr lang="en-US" sz="2500" dirty="0">
              <a:solidFill>
                <a:srgbClr val="FFFFFF"/>
              </a:solidFill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Introduction to CNN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55C9AB-88A1-9D56-B08D-8AF3E652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49" r="33789" b="-2"/>
          <a:stretch/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3A548CF-A9AE-93C7-6E6A-E1487E2B2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928189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246127"/>
          </a:xfrm>
        </p:spPr>
        <p:txBody>
          <a:bodyPr anchor="ctr">
            <a:normAutofit/>
          </a:bodyPr>
          <a:lstStyle/>
          <a:p>
            <a:r>
              <a:rPr lang="en-US" sz="3500" dirty="0"/>
              <a:t>CNN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49" y="2008128"/>
            <a:ext cx="4000647" cy="4860758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Input Layer: Accepts image input (e.g., 28x28 grayscale or RGB image).</a:t>
            </a:r>
          </a:p>
          <a:p>
            <a:endParaRPr lang="en-US" sz="1700" dirty="0"/>
          </a:p>
          <a:p>
            <a:r>
              <a:rPr lang="en-US" sz="1700" dirty="0"/>
              <a:t>Convolutional Layers: Extract features from the image using filters.</a:t>
            </a:r>
          </a:p>
          <a:p>
            <a:endParaRPr lang="en-US" sz="1700" dirty="0"/>
          </a:p>
          <a:p>
            <a:r>
              <a:rPr lang="en-US" sz="1700" dirty="0"/>
              <a:t>Activation Function (</a:t>
            </a:r>
            <a:r>
              <a:rPr lang="en-US" sz="1700" dirty="0" err="1"/>
              <a:t>ReLU</a:t>
            </a:r>
            <a:r>
              <a:rPr lang="en-US" sz="1700" dirty="0"/>
              <a:t>): Introduces non-linearity.</a:t>
            </a:r>
          </a:p>
          <a:p>
            <a:endParaRPr lang="en-US" sz="1700" dirty="0"/>
          </a:p>
          <a:p>
            <a:r>
              <a:rPr lang="en-US" sz="1700" dirty="0"/>
              <a:t>Pooling Layer: Reduces spatial dimensions while preserving features.</a:t>
            </a:r>
          </a:p>
          <a:p>
            <a:endParaRPr lang="en-US" sz="1700" dirty="0"/>
          </a:p>
          <a:p>
            <a:r>
              <a:rPr lang="en-US" sz="1700" dirty="0"/>
              <a:t>Fully Connected Layers: Maps extracted features to output classes.</a:t>
            </a:r>
          </a:p>
          <a:p>
            <a:endParaRPr lang="en-US" sz="1700" dirty="0"/>
          </a:p>
          <a:p>
            <a:r>
              <a:rPr lang="en-US" sz="1700" dirty="0" err="1"/>
              <a:t>Softmax</a:t>
            </a:r>
            <a:r>
              <a:rPr lang="en-US" sz="1700" dirty="0"/>
              <a:t> Function: Converts logits into class probabilities.</a:t>
            </a:r>
          </a:p>
        </p:txBody>
      </p:sp>
      <p:pic>
        <p:nvPicPr>
          <p:cNvPr id="14" name="Picture 13" descr="Box design on a wall">
            <a:extLst>
              <a:ext uri="{FF2B5EF4-FFF2-40B4-BE49-F238E27FC236}">
                <a16:creationId xmlns:a16="http://schemas.microsoft.com/office/drawing/2014/main" id="{F0C9172E-9B17-DF4E-2BE6-A609CC48D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61" r="21878" b="-2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Schematic View of CNN Model</a:t>
            </a:r>
          </a:p>
        </p:txBody>
      </p:sp>
      <p:pic>
        <p:nvPicPr>
          <p:cNvPr id="1026" name="Picture 2" descr="basic convolutional neural network (CNN ...">
            <a:extLst>
              <a:ext uri="{FF2B5EF4-FFF2-40B4-BE49-F238E27FC236}">
                <a16:creationId xmlns:a16="http://schemas.microsoft.com/office/drawing/2014/main" id="{087F0653-D86C-2B3C-125A-327DE327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8482" y="471283"/>
            <a:ext cx="6803037" cy="335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r>
              <a:rPr lang="en-US" sz="1700"/>
              <a:t>Insert a CNN schematic diagram here showing multi-level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Popular CNN Models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65FAD391-6EBD-541B-FEB9-BEE8207C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43" r="25757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5168393" cy="348386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LeNet-5: One of the earliest CNN architectures.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 err="1"/>
              <a:t>AlexNet</a:t>
            </a:r>
            <a:r>
              <a:rPr lang="en-US" sz="1900" dirty="0"/>
              <a:t>: Introduced deep CNNs for large-scale classification.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 err="1"/>
              <a:t>VGGNet</a:t>
            </a:r>
            <a:r>
              <a:rPr lang="en-US" sz="1900" dirty="0"/>
              <a:t>: Uses small 3x3 convolution filters for deeper networks.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 err="1"/>
              <a:t>ResNet</a:t>
            </a:r>
            <a:r>
              <a:rPr lang="en-US" sz="1900" dirty="0"/>
              <a:t>: Introduces skip connections for deeper networks without vanishing gradients.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 err="1"/>
              <a:t>EfficientNet</a:t>
            </a:r>
            <a:r>
              <a:rPr lang="en-US" sz="1900" dirty="0"/>
              <a:t>: Optimized for efficient performance with fewer parameters.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176AF06A-C034-BBFB-6165-52005DBE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56" r="3069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7647" y="2370671"/>
            <a:ext cx="4905879" cy="3869407"/>
          </a:xfrm>
        </p:spPr>
        <p:txBody>
          <a:bodyPr anchor="ctr">
            <a:noAutofit/>
          </a:bodyPr>
          <a:lstStyle/>
          <a:p>
            <a:r>
              <a:rPr lang="en-US" sz="2200" dirty="0"/>
              <a:t>Object Detection (YOLO, Faster R-CNN)</a:t>
            </a:r>
          </a:p>
          <a:p>
            <a:r>
              <a:rPr lang="en-US" sz="2200" dirty="0"/>
              <a:t>Face Recognition (</a:t>
            </a:r>
            <a:r>
              <a:rPr lang="en-US" sz="2200" dirty="0" err="1"/>
              <a:t>FaceNet</a:t>
            </a:r>
            <a:r>
              <a:rPr lang="en-US" sz="2200" dirty="0"/>
              <a:t>, </a:t>
            </a:r>
            <a:r>
              <a:rPr lang="en-US" sz="2200" dirty="0" err="1"/>
              <a:t>DeepFace</a:t>
            </a:r>
            <a:r>
              <a:rPr lang="en-US" sz="2200" dirty="0"/>
              <a:t>)</a:t>
            </a:r>
          </a:p>
          <a:p>
            <a:r>
              <a:rPr lang="en-US" sz="2200" dirty="0"/>
              <a:t>Medical Imaging (X-ray, MRI Classification)</a:t>
            </a:r>
          </a:p>
          <a:p>
            <a:r>
              <a:rPr lang="en-US" sz="2200" dirty="0"/>
              <a:t>Self-driving Cars (Lane Detection, Pedestrian Detection)</a:t>
            </a:r>
          </a:p>
          <a:p>
            <a:r>
              <a:rPr lang="en-US" sz="2200" dirty="0"/>
              <a:t>Image Segmentation (</a:t>
            </a:r>
            <a:r>
              <a:rPr lang="en-US" sz="2200" b="1" dirty="0"/>
              <a:t>U-Net</a:t>
            </a:r>
            <a:r>
              <a:rPr lang="en-US" sz="2200" dirty="0"/>
              <a:t>, Mask R-CNN)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95D78A-178D-9C0A-436D-E7FC960936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85C210-D273-B0E9-CFED-96ECD0FA0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9284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454B1-7D21-51E4-F553-3AE530EF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Q&amp;A?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71227E0F-70B4-20F1-F0C7-2809E37F0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4363" y="402570"/>
            <a:ext cx="3215273" cy="321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0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317</Words>
  <Application>Microsoft Office PowerPoint</Application>
  <PresentationFormat>On-screen Show (4:3)</PresentationFormat>
  <Paragraphs>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Roboto</vt:lpstr>
      <vt:lpstr>Office Theme</vt:lpstr>
      <vt:lpstr>CNN Algorithms</vt:lpstr>
      <vt:lpstr>Introduction to CNN</vt:lpstr>
      <vt:lpstr>CNN Architecture Overview</vt:lpstr>
      <vt:lpstr>Schematic View of CNN Model</vt:lpstr>
      <vt:lpstr>Popular CNN Models</vt:lpstr>
      <vt:lpstr>Applications of CNNs</vt:lpstr>
      <vt:lpstr>Conclusion</vt:lpstr>
      <vt:lpstr>Q&amp;A?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Norouzifard</cp:lastModifiedBy>
  <cp:revision>10</cp:revision>
  <dcterms:created xsi:type="dcterms:W3CDTF">2013-01-27T09:14:16Z</dcterms:created>
  <dcterms:modified xsi:type="dcterms:W3CDTF">2025-03-11T06:20:23Z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2025-03-11T06:10:41Z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f4b7caec-0310-4137-81d1-d529319b2232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